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⏱ ~7 seconds · 5-min cut: KEEP</a:t>
            </a:r>
          </a:p>
          <a:p/>
          <a:p>
            <a:r>
              <a:t>"Good morning. This is Kids Creative Workshop — an agentic app for kids, built on the Claude Agent SDK. Let me start with a moment."</a:t>
            </a:r>
          </a:p>
          <a:p/>
          <a:p>
            <a:r>
              <a:t>🎬 Warm and slow. Pause before "Let me start with a moment."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⏱ ~22 seconds · 5-min cut: KEEP</a:t>
            </a:r>
          </a:p>
          <a:p/>
          <a:p>
            <a:r>
              <a:t>"Three moments in a kid's day.</a:t>
            </a:r>
          </a:p>
          <a:p/>
          <a:p>
            <a:r>
              <a:t>She hands her drawing to her buddy — and it becomes a story, in her character.</a:t>
            </a:r>
          </a:p>
          <a:p/>
          <a:p>
            <a:r>
              <a:t>[pause]</a:t>
            </a:r>
          </a:p>
          <a:p/>
          <a:p>
            <a:r>
              <a:t>That same character stars in the next adventure — her choices, her ending.</a:t>
            </a:r>
          </a:p>
          <a:p/>
          <a:p>
            <a:r>
              <a:t>[pause]</a:t>
            </a:r>
          </a:p>
          <a:p/>
          <a:p>
            <a:r>
              <a:t>And tomorrow's news arrives as her own podcast — kid-safe.</a:t>
            </a:r>
          </a:p>
          <a:p/>
          <a:p>
            <a:r>
              <a:t>One buddy. Three moments. Her world, every time."</a:t>
            </a:r>
          </a:p>
          <a:p/>
          <a:p>
            <a:r>
              <a:t>🎬 Slow down. The pauses are the slide.</a:t>
            </a:r>
          </a:p>
          <a:p>
            <a:r>
              <a:t>➡ Next: "But today's AI fails her on every one of these."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⏱ ~24 seconds · 5-min cut: KEEP</a:t>
            </a:r>
          </a:p>
          <a:p/>
          <a:p>
            <a:r>
              <a:t>"Today's AI fails kids on four fronts.</a:t>
            </a:r>
          </a:p>
          <a:p/>
          <a:p>
            <a:r>
              <a:t>One — it's not personalized. Generic output, no memory of her characters or her age.</a:t>
            </a:r>
          </a:p>
          <a:p/>
          <a:p>
            <a:r>
              <a:t>Two — it's not customized. Every child gets the same prompt, the same answer.</a:t>
            </a:r>
          </a:p>
          <a:p/>
          <a:p>
            <a:r>
              <a:t>Three — no kid-suited news. Today's news products are adult-first.</a:t>
            </a:r>
          </a:p>
          <a:p/>
          <a:p>
            <a:r>
              <a:t>Four — no persistence. Every session resets — last week's character is forgotten.</a:t>
            </a:r>
          </a:p>
          <a:p/>
          <a:p>
            <a:r>
              <a:t>Existing AI extracts from kids. We collaborate with them."</a:t>
            </a:r>
          </a:p>
          <a:p/>
          <a:p>
            <a:r>
              <a:t>🎬 Number each problem — "one, two, three, four" — to match the grid on screen.</a:t>
            </a:r>
          </a:p>
          <a:p>
            <a:r>
              <a:t>➡ Next: "Here's how our agent fixes each one."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⏱ ~28 seconds · 5-min cut: KEEP</a:t>
            </a:r>
          </a:p>
          <a:p/>
          <a:p>
            <a:r>
              <a:t>"Four problems, four abilities — one for each.</a:t>
            </a:r>
          </a:p>
          <a:p/>
          <a:p>
            <a:r>
              <a:t>Not personalized — persona and character memory. Recurring characters recalled across every session.</a:t>
            </a:r>
          </a:p>
          <a:p/>
          <a:p>
            <a:r>
              <a:t>Not customized — per-child agent definitions, with skills gated by age.</a:t>
            </a:r>
          </a:p>
          <a:p/>
          <a:p>
            <a:r>
              <a:t>No kid-news — a dedicated kids-daily specialist: age-stratified, safety-reviewed, in the buddy's voice.</a:t>
            </a:r>
          </a:p>
          <a:p/>
          <a:p>
            <a:r>
              <a:t>No persistence — agent and character repositories, plus vector search. One buddy, for life.</a:t>
            </a:r>
          </a:p>
          <a:p/>
          <a:p>
            <a:r>
              <a:t>And kids feel three things: interactive, proactive, persistent."</a:t>
            </a:r>
          </a:p>
          <a:p/>
          <a:p>
            <a:r>
              <a:t>🎬 Walk problem-to-ability, tight. End on the three feelings.</a:t>
            </a:r>
          </a:p>
          <a:p>
            <a:r>
              <a:t>➡ Next: "These abilities run on a small set of SDK primitives."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⏱ ~32 seconds · 5-min cut: KEEP</a:t>
            </a:r>
          </a:p>
          <a:p/>
          <a:p>
            <a:r>
              <a:t>"Six agentic features, one stack.</a:t>
            </a:r>
          </a:p>
          <a:p/>
          <a:p>
            <a:r>
              <a:t>Interactive — streaming SSE, so the story writes itself token by token.</a:t>
            </a:r>
          </a:p>
          <a:p/>
          <a:p>
            <a:r>
              <a:t>Responsive — Claude Haiku for speed, plus deterministic and LLM intent routing.</a:t>
            </a:r>
          </a:p>
          <a:p/>
          <a:p>
            <a:r>
              <a:t>Proactive — vector recall surfaces recurring characters and suggests next moves.</a:t>
            </a:r>
          </a:p>
          <a:p/>
          <a:p>
            <a:r>
              <a:t>Persistent — vector DB plus SQL repositories hold the buddy across sessions.</a:t>
            </a:r>
          </a:p>
          <a:p/>
          <a:p>
            <a:r>
              <a:t>Reactive — every reply runs through our safety tool, with age-aware thresholds.</a:t>
            </a:r>
          </a:p>
          <a:p/>
          <a:p>
            <a:r>
              <a:t>And autonomous — that's next: multi-step planning, scheduled buddy initiatives."</a:t>
            </a:r>
          </a:p>
          <a:p/>
          <a:p>
            <a:r>
              <a:t>🎬 Walk row by row. Slow down on reactive — that's the safety moat. Mark autonomous as future, not shipped.</a:t>
            </a:r>
          </a:p>
          <a:p>
            <a:r>
              <a:t>➡ Next: "One agent hit a ceiling. So we extended to a team."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⏱ ~26 seconds · 5-min cut: KEEP</a:t>
            </a:r>
          </a:p>
          <a:p/>
          <a:p>
            <a:r>
              <a:t>"Four agent architecture patterns — and we use all four.</a:t>
            </a:r>
          </a:p>
          <a:p/>
          <a:p>
            <a:r>
              <a:t>Single agent — one job, linear inference. We use it for text-to-speech.</a:t>
            </a:r>
          </a:p>
          <a:p/>
          <a:p>
            <a:r>
              <a:t>Sub-agent fan-out — the same task in parallel, for speed.</a:t>
            </a:r>
          </a:p>
          <a:p/>
          <a:p>
            <a:r>
              <a:t>Agent team — multiple agents collaborating by role, each an AgentDefinition. That's our My Agent.</a:t>
            </a:r>
          </a:p>
          <a:p/>
          <a:p>
            <a:r>
              <a:t>Multi-agent orchestrator — agents created dynamically at runtime. That's what makes us extensible.</a:t>
            </a:r>
          </a:p>
          <a:p/>
          <a:p>
            <a:r>
              <a:t>Shared state flows to every specialist through the agent context. A2A to external teams is future work."</a:t>
            </a:r>
          </a:p>
          <a:p/>
          <a:p>
            <a:r>
              <a:t>🎬 Walk pattern by pattern. "We use all four" is the punchline.</a:t>
            </a:r>
          </a:p>
          <a:p>
            <a:r>
              <a:t>➡ Next: "And every agent is wired to six memory layers."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⏱ ~28 seconds · 5-min cut: KEEP</a:t>
            </a:r>
          </a:p>
          <a:p/>
          <a:p>
            <a:r>
              <a:t>"Memory is what makes a buddy feel like a buddy. Six layers.</a:t>
            </a:r>
          </a:p>
          <a:p/>
          <a:p>
            <a:r>
              <a:t>Session — this conversation's history.</a:t>
            </a:r>
          </a:p>
          <a:p/>
          <a:p>
            <a:r>
              <a:t>Working — the per-turn execution context.</a:t>
            </a:r>
          </a:p>
          <a:p/>
          <a:p>
            <a:r>
              <a:t>Episodic — past creations: stories, podcasts, choices.</a:t>
            </a:r>
          </a:p>
          <a:p/>
          <a:p>
            <a:r>
              <a:t>Factual — persona, child profile, preferences.</a:t>
            </a:r>
          </a:p>
          <a:p/>
          <a:p>
            <a:r>
              <a:t>Semantic — embeddings of characters and themes, in our vector store.</a:t>
            </a:r>
          </a:p>
          <a:p/>
          <a:p>
            <a:r>
              <a:t>Procedural — how the buddy generates each kind of content.</a:t>
            </a:r>
          </a:p>
          <a:p/>
          <a:p>
            <a:r>
              <a:t>Put it together: the buddy remembers, understands, acts, talks, and reasons in flight."</a:t>
            </a:r>
          </a:p>
          <a:p/>
          <a:p>
            <a:r>
              <a:t>🎬 Brisk through the six. Slow down on procedural — most teams don't have it. Land the closing line.</a:t>
            </a:r>
          </a:p>
          <a:p>
            <a:r>
              <a:t>➡ Next: "Here's how the layers and patterns compose in our team."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⏱ ~38 seconds · 5-min cut: KEEP</a:t>
            </a:r>
          </a:p>
          <a:p/>
          <a:p>
            <a:r>
              <a:t>"This is the architecture. Each surface needed its own expertise — so we built an agent team, on the Claude Agent SDK.</a:t>
            </a:r>
          </a:p>
          <a:p/>
          <a:p>
            <a:r>
              <a:t>[point at the proxy]</a:t>
            </a:r>
          </a:p>
          <a:p/>
          <a:p>
            <a:r>
              <a:t>A child's message hits the proxy first. It orchestrates — routes intent with deterministic rules plus LLM disambiguation.</a:t>
            </a:r>
          </a:p>
          <a:p/>
          <a:p>
            <a:r>
              <a:t>[point at the specialists]</a:t>
            </a:r>
          </a:p>
          <a:p/>
          <a:p>
            <a:r>
              <a:t>Then the right capability runs — image story, interactive story, and Kids Daily are specialists; audio narration is a reusable TTS tool. Each has its own prompt and tools.</a:t>
            </a:r>
          </a:p>
          <a:p/>
          <a:p>
            <a:r>
              <a:t>[point at safety_review — pause]</a:t>
            </a:r>
          </a:p>
          <a:p/>
          <a:p>
            <a:r>
              <a:t>Every reply passes through safety review before it reaches the child. That's the non-negotiable gate.</a:t>
            </a:r>
          </a:p>
          <a:p/>
          <a:p>
            <a:r>
              <a:t>[point at the context bus]</a:t>
            </a:r>
          </a:p>
          <a:p/>
          <a:p>
            <a:r>
              <a:t>And underneath, shared context — persona, characters — flows to every agent. Same character in the story and the podcast.</a:t>
            </a:r>
          </a:p>
          <a:p/>
          <a:p>
            <a:r>
              <a:t>This unlocks responsive, dynamic, and A2A-extensible."</a:t>
            </a:r>
          </a:p>
          <a:p/>
          <a:p>
            <a:r>
              <a:t>🎬 Centerpiece slide. Walk top to bottom. Pause after "before it reaches the child."</a:t>
            </a:r>
          </a:p>
          <a:p>
            <a:r>
              <a:t>➡ Next: "Every primitive here earned its place."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⏱ ~24 seconds · 5-min cut: KEEP</a:t>
            </a:r>
          </a:p>
          <a:p/>
          <a:p>
            <a:r>
              <a:t>"The infrastructure is three managed services.</a:t>
            </a:r>
          </a:p>
          <a:p/>
          <a:p>
            <a:r>
              <a:t>Vercel hosts the frontend — a React app on a CDN.</a:t>
            </a:r>
          </a:p>
          <a:p/>
          <a:p>
            <a:r>
              <a:t>Railway runs the FastAPI backend — the Agent SDK and seven MCP servers, auto-deployed from main.</a:t>
            </a:r>
          </a:p>
          <a:p/>
          <a:p>
            <a:r>
              <a:t>Supabase is the database — Postgres with pgvector, plus auth and storage.</a:t>
            </a:r>
          </a:p>
          <a:p/>
          <a:p>
            <a:r>
              <a:t>Plus AI APIs — Anthropic, OpenAI, ElevenLabs, Tavily.</a:t>
            </a:r>
          </a:p>
          <a:p/>
          <a:p>
            <a:r>
              <a:t>Each service does one job. No magic, no monorepo coupling."</a:t>
            </a:r>
          </a:p>
          <a:p/>
          <a:p>
            <a:r>
              <a:t>🎬 Trace top to bottom. Land "no magic, no monorepo coupling" slowly.</a:t>
            </a:r>
          </a:p>
          <a:p>
            <a:r>
              <a:t>➡ Next: "Inside the backend, the same discipline holds."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⏱ ~26 seconds · 5-min cut: KEEP</a:t>
            </a:r>
          </a:p>
          <a:p/>
          <a:p>
            <a:r>
              <a:t>"Inside the backend — seven layers, all talking one direction.</a:t>
            </a:r>
          </a:p>
          <a:p/>
          <a:p>
            <a:r>
              <a:t>Routes parse requests. Dependencies handle auth and quota.</a:t>
            </a:r>
          </a:p>
          <a:p/>
          <a:p>
            <a:r>
              <a:t>Agents orchestrate the AI. MCP servers are the tool layer — seven of them.</a:t>
            </a:r>
          </a:p>
          <a:p/>
          <a:p>
            <a:r>
              <a:t>Services hold business logic. Repositories wrap database access — twenty of them.</a:t>
            </a:r>
          </a:p>
          <a:p/>
          <a:p>
            <a:r>
              <a:t>And the database adapter — SQLite in dev, Postgres in production.</a:t>
            </a:r>
          </a:p>
          <a:p/>
          <a:p>
            <a:r>
              <a:t>Each layer talks down, never up. That's how we replace any layer in isolation."</a:t>
            </a:r>
          </a:p>
          <a:p/>
          <a:p>
            <a:r>
              <a:t>🎬 Walk layer by layer. Land "talks down, never up" slowly.</a:t>
            </a:r>
          </a:p>
          <a:p>
            <a:r>
              <a:t>➡ Next: "Let me show you what the kid actually sees."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⏱ ~22 seconds · 5-min cut: KEEP</a:t>
            </a:r>
          </a:p>
          <a:p/>
          <a:p>
            <a:r>
              <a:t>"Here's the buddy — three states, one identity.</a:t>
            </a:r>
          </a:p>
          <a:p/>
          <a:p>
            <a:r>
              <a:t>First, the empty state — no buddy yet.</a:t>
            </a:r>
          </a:p>
          <a:p/>
          <a:p>
            <a:r>
              <a:t>Then customize — the child names their buddy, picks an avatar, chooses a theme. Kids love this part.</a:t>
            </a:r>
          </a:p>
          <a:p/>
          <a:p>
            <a:r>
              <a:t>Then chat — the buddy greets them with three starter prompts, each routing to a specialist.</a:t>
            </a:r>
          </a:p>
          <a:p/>
          <a:p>
            <a:r>
              <a:t>Three states, one persona, persisted across every session."</a:t>
            </a:r>
          </a:p>
          <a:p/>
          <a:p>
            <a:r>
              <a:t>🎬 Point at each pane. "Kids love this part" — say it casually, like an observation.</a:t>
            </a:r>
          </a:p>
          <a:p>
            <a:r>
              <a:t>➡ Next: "And here's what the buddy actually creates."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⏱ ~28 seconds · 5-min cut: KEEP</a:t>
            </a:r>
          </a:p>
          <a:p/>
          <a:p>
            <a:r>
              <a:t>"These are real outputs from the live app.</a:t>
            </a:r>
          </a:p>
          <a:p/>
          <a:p>
            <a:r>
              <a:t>On the left — an art story. The child's drawing became a sixty-second narrative with their character, Ember.</a:t>
            </a:r>
          </a:p>
          <a:p/>
          <a:p>
            <a:r>
              <a:t>In the middle — an interactive story. The same Ember, now in a branching adventure with three choices.</a:t>
            </a:r>
          </a:p>
          <a:p/>
          <a:p>
            <a:r>
              <a:t>On the right — a kids daily episode. Ember again, as guest anchor, with transcript and audio.</a:t>
            </a:r>
          </a:p>
          <a:p/>
          <a:p>
            <a:r>
              <a:t>Three surfaces, same character. Continuity made real — not just claimed."</a:t>
            </a:r>
          </a:p>
          <a:p/>
          <a:p>
            <a:r>
              <a:t>🎬 Point at each pane. Say "Ember" each time — that makes continuity concrete.</a:t>
            </a:r>
          </a:p>
          <a:p>
            <a:r>
              <a:t>➡ Next: "And kids share what they make — safely."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⏱ ~24 seconds · 5-min cut: KEEP</a:t>
            </a:r>
          </a:p>
          <a:p/>
          <a:p>
            <a:r>
              <a:t>"Kids share what they create — safely.</a:t>
            </a:r>
          </a:p>
          <a:p/>
          <a:p>
            <a:r>
              <a:t>Most kid-AI products fail COPPA the same way: they join posts back to the users table for a byline, and a child's name leaks.</a:t>
            </a:r>
          </a:p>
          <a:p/>
          <a:p>
            <a:r>
              <a:t>Our schema doesn't allow it. The hub-posts table has immutable persona snapshot columns. No read path joins the users table.</a:t>
            </a:r>
          </a:p>
          <a:p/>
          <a:p>
            <a:r>
              <a:t>The unsafe query can't even be expressed. Safety is a schema invariant — with a test that enforces it."</a:t>
            </a:r>
          </a:p>
          <a:p/>
          <a:p>
            <a:r>
              <a:t>🎬 The COPPA moat. Say "the unsafe query can't even be expressed" slowly.</a:t>
            </a:r>
          </a:p>
          <a:p>
            <a:r>
              <a:t>➡ Next: "And the architecture is built to extend."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⏱ ~24 seconds · 5-min cut: KEEP</a:t>
            </a:r>
          </a:p>
          <a:p/>
          <a:p>
            <a:r>
              <a:t>"This architecture is open by design.</a:t>
            </a:r>
          </a:p>
          <a:p/>
          <a:p>
            <a:r>
              <a:t>Adding a new specialist takes one AgentDefinition — a model, a prompt, its tools, its skills.</a:t>
            </a:r>
          </a:p>
          <a:p/>
          <a:p>
            <a:r>
              <a:t>Register it, and routing picks it up automatically. The safety gate still runs on every reply. Shared context still flows in.</a:t>
            </a:r>
          </a:p>
          <a:p/>
          <a:p>
            <a:r>
              <a:t>And in the future, an A2A bridge lets external agent teams join — through the same contract."</a:t>
            </a:r>
          </a:p>
          <a:p/>
          <a:p>
            <a:r>
              <a:t>🎬 Let the audience read the code. "One AgentDefinition" is the moat — slow on that.</a:t>
            </a:r>
          </a:p>
          <a:p>
            <a:r>
              <a:t>➡ Next: "And here's where we're headed."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⏱ ~30 seconds · 5-min cut: KEEP</a:t>
            </a:r>
          </a:p>
          <a:p/>
          <a:p>
            <a:r>
              <a:t>"Our roadmap — two phases shipped, two ahead.</a:t>
            </a:r>
          </a:p>
          <a:p/>
          <a:p>
            <a:r>
              <a:t>Phase one, the MVP — single agent, image-to-story, safety, TTS. Done.</a:t>
            </a:r>
          </a:p>
          <a:p/>
          <a:p>
            <a:r>
              <a:t>Phase two, the agent team — multi-agent, memory, Kids Daily, community. Done.</a:t>
            </a:r>
          </a:p>
          <a:p/>
          <a:p>
            <a:r>
              <a:t>Phase three, in design — video, parent dashboard, gamification.</a:t>
            </a:r>
          </a:p>
          <a:p/>
          <a:p>
            <a:r>
              <a:t>Phase four, the vision — autonomous.</a:t>
            </a:r>
          </a:p>
          <a:p/>
          <a:p>
            <a:r>
              <a:t>We don't pitch features. We ship them."</a:t>
            </a:r>
          </a:p>
          <a:p/>
          <a:p>
            <a:r>
              <a:t>🎬 Tap each phase card. Land "we don't pitch features, we ship them" slowly.</a:t>
            </a:r>
          </a:p>
          <a:p>
            <a:r>
              <a:t>➡ Next: "And the engineering rigor behind that velocity."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⏱ ~22 seconds · 5-min cut: KEEP</a:t>
            </a:r>
          </a:p>
          <a:p/>
          <a:p>
            <a:r>
              <a:t>"Where we are today. Two hundred ninety-two tracked work items — phases one and two done, phase three moving into build.</a:t>
            </a:r>
          </a:p>
          <a:p/>
          <a:p>
            <a:r>
              <a:t>The engineering rigor: over seven hundred contract tests, per-reply safety, a silent safety bug we caught and fixed in twenty-four hours.</a:t>
            </a:r>
          </a:p>
          <a:p/>
          <a:p>
            <a:r>
              <a:t>We don't pitch features. We ship them."</a:t>
            </a:r>
          </a:p>
          <a:p/>
          <a:p>
            <a:r>
              <a:t>🎬 Speak numbers as words. If you have real pilot data, swap it in. Closing repeats slide 15 on purpose — lands the receipt.</a:t>
            </a:r>
          </a:p>
          <a:p>
            <a:r>
              <a:t>➡ Next: "And we own our bugs too."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⏱ ~26 seconds · 5-min cut: DEFAULT-CUT (keep for 6-min slot)</a:t>
            </a:r>
          </a:p>
          <a:p/>
          <a:p>
            <a:r>
              <a:t>"This is the slide most pitches don't have — the bugs we caught.</a:t>
            </a:r>
          </a:p>
          <a:p/>
          <a:p>
            <a:r>
              <a:t>One — we ran the SDK as a subprocess. Railway killed it on memory. We ported to a direct API and got half the memory back.</a:t>
            </a:r>
          </a:p>
          <a:p/>
          <a:p>
            <a:r>
              <a:t>Two — we called the safety check the wrong way. A swallowed error meant stories shipped with a fake score. We caught it ourselves, fixed it in a day.</a:t>
            </a:r>
          </a:p>
          <a:p/>
          <a:p>
            <a:r>
              <a:t>Three — a single agent with a safety prompt wasn't enough. So we built per-reply programmatic safety.</a:t>
            </a:r>
          </a:p>
          <a:p/>
          <a:p>
            <a:r>
              <a:t>Most pitches hide bugs. We name ours."</a:t>
            </a:r>
          </a:p>
          <a:p/>
          <a:p>
            <a:r>
              <a:t>🎬 Speak each row in ~7 seconds. The 24-hour bug story is the receipt — slow on it.</a:t>
            </a:r>
          </a:p>
          <a:p>
            <a:r>
              <a:t>➡ Next: "Here's why this matters."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⏱ ~24 seconds · 5-min cut: KEEP</a:t>
            </a:r>
          </a:p>
          <a:p/>
          <a:p>
            <a:r>
              <a:t>"Why this matters.</a:t>
            </a:r>
          </a:p>
          <a:p/>
          <a:p>
            <a:r>
              <a:t>Agentic from day one — real SDK, real tools, real orchestration. Not a wrapper.</a:t>
            </a:r>
          </a:p>
          <a:p/>
          <a:p>
            <a:r>
              <a:t>292 tracked work items across shipped and planned milestones — execution proof.</a:t>
            </a:r>
          </a:p>
          <a:p/>
          <a:p>
            <a:r>
              <a:t>Programmatic safety on every reply — code-enforced, not vibes.</a:t>
            </a:r>
          </a:p>
          <a:p/>
          <a:p>
            <a:r>
              <a:t>A community that protects child PII at the schema level.</a:t>
            </a:r>
          </a:p>
          <a:p/>
          <a:p>
            <a:r>
              <a:t>A buddy that grows with the child.</a:t>
            </a:r>
          </a:p>
          <a:p/>
          <a:p>
            <a:r>
              <a:t>[pause]</a:t>
            </a:r>
          </a:p>
          <a:p/>
          <a:p>
            <a:r>
              <a:t>This is AI that grows up with kids — safely.</a:t>
            </a:r>
          </a:p>
          <a:p/>
          <a:p>
            <a:r>
              <a:t>[pause — hold eye contact]</a:t>
            </a:r>
          </a:p>
          <a:p/>
          <a:p>
            <a:r>
              <a:t>I'd love to take your questions."</a:t>
            </a:r>
          </a:p>
          <a:p/>
          <a:p>
            <a:r>
              <a:t>🎬 Stack the lines briskly. Hard pause before "AI that grows up with kids — safely." Don't smile until you've asked for questions.</a:t>
            </a:r>
          </a:p>
          <a:p>
            <a:r>
              <a:t>➡ End of pitch.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⏱ Variable · Only reveal during Q&amp;A</a:t>
            </a:r>
          </a:p>
          <a:p/>
          <a:p>
            <a:r>
              <a:t>This slide should be HIDDEN during the main presentation:</a:t>
            </a:r>
          </a:p>
          <a:p>
            <a:r>
              <a:t>Keynote → right-click slide thumbnail → Skip Slide</a:t>
            </a:r>
          </a:p>
          <a:p/>
          <a:p>
            <a:r>
              <a:t>Only reveal it if a judge asks a deep technical question. Then jump straight to the row that answers them.</a:t>
            </a:r>
          </a:p>
          <a:p/>
          <a:p>
            <a:r>
              <a:t>Here are three example answers you might give out loud:</a:t>
            </a:r>
          </a:p>
          <a:p/>
          <a:p>
            <a:r>
              <a:t>If they ask "what's the difference between an agent and a subagent?":</a:t>
            </a:r>
          </a:p>
          <a:p>
            <a:r>
              <a:t>"An agent in our system is an AgentDefinition — it has a model, a system prompt, a set of tools, and a set of skills. A subagent is one of those registered underneath our proxy. The SDK's Agent tool is what lets the proxy delegate to a subagent based on the child's intent."</a:t>
            </a:r>
          </a:p>
          <a:p/>
          <a:p>
            <a:r>
              <a:t>If they ask "why didn't you just use a bigger prompt?":</a:t>
            </a:r>
          </a:p>
          <a:p>
            <a:r>
              <a:t>"Two reasons. First, quality degrades as you stuff more specialties into one prompt — the model loses focus. And second, we'd lose the per-reply safety subagent as a separate gate, which is non-negotiable for a kids product."</a:t>
            </a:r>
          </a:p>
          <a:p/>
          <a:p>
            <a:r>
              <a:t>If they ask "how is your COPPA pattern different from other kid-AI products?":</a:t>
            </a:r>
          </a:p>
          <a:p>
            <a:r>
              <a:t>"Most teams enforce their kid-PII rules in code review. We enforce them in the schema. The hub_posts table has agent_name, agent_avatar, and agent_title as immutable snapshot columns — written once at post time. No read path in our codebase JOINs the users table. The unsafe query literally can't be expressed in our schema."</a:t>
            </a:r>
          </a:p>
          <a:p/>
          <a:p>
            <a:r>
              <a:t>🎬 Don't read the whole table out loud. Just jump to the row that answers the question and explain it conversationally.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2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011680"/>
            <a:ext cx="1033272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5400" b="1" i="0">
                <a:solidFill>
                  <a:srgbClr val="DB2777"/>
                </a:solidFill>
                <a:latin typeface="Helvetica Neue"/>
              </a:rPr>
              <a:t>Kids Creative Workshop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291840"/>
            <a:ext cx="1033272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 i="0">
                <a:solidFill>
                  <a:srgbClr val="7C3AED"/>
                </a:solidFill>
                <a:latin typeface="Helvetica Neue"/>
              </a:rPr>
              <a:t>An </a:t>
            </a:r>
            <a:r>
              <a:rPr sz="3000" b="1" i="1">
                <a:solidFill>
                  <a:srgbClr val="7C3AED"/>
                </a:solidFill>
                <a:latin typeface="Helvetica Neue"/>
              </a:rPr>
              <a:t>agentic</a:t>
            </a:r>
            <a:r>
              <a:rPr sz="3000" b="1" i="0">
                <a:solidFill>
                  <a:srgbClr val="7C3AED"/>
                </a:solidFill>
                <a:latin typeface="Helvetica Neue"/>
              </a:rPr>
              <a:t> app for kids — built on Claude Agent SDK.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4937760"/>
            <a:ext cx="103327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0" i="0">
                <a:solidFill>
                  <a:srgbClr val="64748B"/>
                </a:solidFill>
                <a:latin typeface="Helvetica Neue"/>
              </a:rPr>
              <a:t>6-minute pitch · Single agent → agent team ·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2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822960"/>
            <a:ext cx="105156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4400" b="1" i="0">
                <a:solidFill>
                  <a:srgbClr val="DB2777"/>
                </a:solidFill>
                <a:latin typeface="Helvetica Neue"/>
              </a:rPr>
              <a:t>Three moments. One buddy.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2286000"/>
            <a:ext cx="10515600" cy="3291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1" i="0">
                <a:solidFill>
                  <a:srgbClr val="7C3AED"/>
                </a:solidFill>
                <a:latin typeface="Helvetica Neue"/>
              </a:rPr>
              <a:t>Her drawing — becomes a story.</a:t>
            </a:r>
          </a:p>
          <a:p>
            <a:pPr algn="l">
              <a:spcAft>
                <a:spcPts val="600"/>
              </a:spcAft>
            </a:pPr>
            <a:r>
              <a:rPr sz="3400" b="1" i="0">
                <a:solidFill>
                  <a:srgbClr val="7C3AED"/>
                </a:solidFill>
                <a:latin typeface="Helvetica Neue"/>
              </a:rPr>
              <a:t>Her character — stars in the next adventure.</a:t>
            </a:r>
          </a:p>
          <a:p>
            <a:pPr algn="l">
              <a:spcAft>
                <a:spcPts val="600"/>
              </a:spcAft>
            </a:pPr>
            <a:r>
              <a:rPr sz="3400" b="1" i="0">
                <a:solidFill>
                  <a:srgbClr val="7C3AED"/>
                </a:solidFill>
                <a:latin typeface="Helvetica Neue"/>
              </a:rPr>
              <a:t>Tomorrow's news — arrives as her podcast.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200" b="1" i="0">
                <a:solidFill>
                  <a:srgbClr val="1E293B"/>
                </a:solidFill>
                <a:latin typeface="Helvetica Neue"/>
              </a:rPr>
              <a:t>Today's AI fails kids on four fronts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640080" y="1554480"/>
          <a:ext cx="10908792" cy="3840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54396"/>
                <a:gridCol w="5454396"/>
              </a:tblGrid>
              <a:tr h="960120"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1E293B"/>
                          </a:solidFill>
                          <a:latin typeface="Helvetica Neue"/>
                        </a:rPr>
                        <a:t>🚫 Not personalized enough</a:t>
                      </a:r>
                    </a:p>
                  </a:txBody>
                  <a:tcPr marL="109728" marR="109728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1E293B"/>
                          </a:solidFill>
                          <a:latin typeface="Helvetica Neue"/>
                        </a:rPr>
                        <a:t>🚫 Not highly customized</a:t>
                      </a:r>
                    </a:p>
                  </a:txBody>
                  <a:tcPr marL="109728" marR="109728" marT="54864" marB="54864" anchor="ctr">
                    <a:solidFill>
                      <a:srgbClr val="FFFFFF"/>
                    </a:solidFill>
                  </a:tcPr>
                </a:tc>
              </a:tr>
              <a:tr h="960120"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1E293B"/>
                          </a:solidFill>
                          <a:latin typeface="Helvetica Neue"/>
                        </a:rPr>
                        <a:t>Generic output. No memory of her characters, her voice, her age.</a:t>
                      </a:r>
                    </a:p>
                  </a:txBody>
                  <a:tcPr marL="109728" marR="109728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1E293B"/>
                          </a:solidFill>
                          <a:latin typeface="Helvetica Neue"/>
                        </a:rPr>
                        <a:t>Same prompt, same answer for every child. No buddy identity. No per-child capability set.</a:t>
                      </a:r>
                    </a:p>
                  </a:txBody>
                  <a:tcPr marL="109728" marR="109728" marT="54864" marB="54864" anchor="ctr">
                    <a:solidFill>
                      <a:srgbClr val="FFFFFF"/>
                    </a:solidFill>
                  </a:tcPr>
                </a:tc>
              </a:tr>
              <a:tr h="960120"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1E293B"/>
                          </a:solidFill>
                          <a:latin typeface="Helvetica Neue"/>
                        </a:rPr>
                        <a:t>🚫 No suited news for kids</a:t>
                      </a:r>
                    </a:p>
                  </a:txBody>
                  <a:tcPr marL="109728" marR="109728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1E293B"/>
                          </a:solidFill>
                          <a:latin typeface="Helvetica Neue"/>
                        </a:rPr>
                        <a:t>🚫 No long-term persistence</a:t>
                      </a:r>
                    </a:p>
                  </a:txBody>
                  <a:tcPr marL="109728" marR="109728" marT="54864" marB="54864" anchor="ctr">
                    <a:solidFill>
                      <a:srgbClr val="FFFFFF"/>
                    </a:solidFill>
                  </a:tcPr>
                </a:tc>
              </a:tr>
              <a:tr h="960120"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1E293B"/>
                          </a:solidFill>
                          <a:latin typeface="Helvetica Neue"/>
                        </a:rPr>
                        <a:t>Today's news products are adult-first. No age-aware filter. No narrative voice for kids.</a:t>
                      </a:r>
                    </a:p>
                  </a:txBody>
                  <a:tcPr marL="109728" marR="109728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1E293B"/>
                          </a:solidFill>
                          <a:latin typeface="Helvetica Neue"/>
                        </a:rPr>
                        <a:t>Each session resets. Lightning the puppy is forgotten by Monday.</a:t>
                      </a:r>
                    </a:p>
                  </a:txBody>
                  <a:tcPr marL="109728" marR="109728" marT="54864" marB="54864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640080" y="6126480"/>
            <a:ext cx="109728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 i="0">
                <a:solidFill>
                  <a:srgbClr val="64748B"/>
                </a:solidFill>
                <a:latin typeface="Helvetica Neue"/>
              </a:rPr>
              <a:t>Existing AI extracts. We collaborate.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200" b="1" i="0">
                <a:solidFill>
                  <a:srgbClr val="1E293B"/>
                </a:solidFill>
                <a:latin typeface="Helvetica Neue"/>
              </a:rPr>
              <a:t>Meet My Agent — one ability per problem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640080" y="1463040"/>
          <a:ext cx="10908792" cy="4206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26080"/>
                <a:gridCol w="7982712"/>
              </a:tblGrid>
              <a:tr h="841248">
                <a:tc>
                  <a:txBody>
                    <a:bodyPr wrap="square"/>
                    <a:lstStyle/>
                    <a:p>
                      <a:r>
                        <a:rPr sz="1600" b="1" i="0">
                          <a:solidFill>
                            <a:srgbClr val="7C3AED"/>
                          </a:solidFill>
                          <a:latin typeface="Helvetica Neue"/>
                        </a:rPr>
                        <a:t>Problem</a:t>
                      </a:r>
                    </a:p>
                  </a:txBody>
                  <a:tcPr marL="109728" marR="109728" marT="54864" marB="54864" anchor="ctr">
                    <a:solidFill>
                      <a:srgbClr val="F5F3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1" i="0">
                          <a:solidFill>
                            <a:srgbClr val="7C3AED"/>
                          </a:solidFill>
                          <a:latin typeface="Helvetica Neue"/>
                        </a:rPr>
                        <a:t>Our agent's ability</a:t>
                      </a:r>
                    </a:p>
                  </a:txBody>
                  <a:tcPr marL="109728" marR="109728" marT="54864" marB="54864" anchor="ctr">
                    <a:solidFill>
                      <a:srgbClr val="F5F3FF"/>
                    </a:solidFill>
                  </a:tcPr>
                </a:tc>
              </a:tr>
              <a:tr h="841248"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1E293B"/>
                          </a:solidFill>
                          <a:latin typeface="Helvetica Neue"/>
                        </a:rPr>
                        <a:t>Not personalized enough</a:t>
                      </a:r>
                    </a:p>
                  </a:txBody>
                  <a:tcPr marL="109728" marR="109728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 i="0">
                          <a:solidFill>
                            <a:srgbClr val="1E293B"/>
                          </a:solidFill>
                          <a:latin typeface="Helvetica Neue"/>
                        </a:rPr>
                        <a:t>Persona + character memory</a:t>
                      </a:r>
                      <a:r>
                        <a:rPr sz="1400" b="0" i="0">
                          <a:solidFill>
                            <a:srgbClr val="1E293B"/>
                          </a:solidFill>
                          <a:latin typeface="Helvetica Neue"/>
                        </a:rPr>
                        <a:t> — buddy is named &amp; customized; recurring characters recalled across sessions (</a:t>
                      </a:r>
                      <a:r>
                        <a:rPr sz="1400" b="0" i="0">
                          <a:solidFill>
                            <a:srgbClr val="1E293B"/>
                          </a:solidFill>
                          <a:latin typeface="Menlo"/>
                        </a:rPr>
                        <a:t>character_repo</a:t>
                      </a:r>
                      <a:r>
                        <a:rPr sz="1400" b="0" i="0">
                          <a:solidFill>
                            <a:srgbClr val="1E293B"/>
                          </a:solidFill>
                          <a:latin typeface="Helvetica Neue"/>
                        </a:rPr>
                        <a:t>)</a:t>
                      </a:r>
                    </a:p>
                  </a:txBody>
                  <a:tcPr marL="109728" marR="109728" marT="54864" marB="54864" anchor="ctr">
                    <a:solidFill>
                      <a:srgbClr val="FFFFFF"/>
                    </a:solidFill>
                  </a:tcPr>
                </a:tc>
              </a:tr>
              <a:tr h="841248"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1E293B"/>
                          </a:solidFill>
                          <a:latin typeface="Helvetica Neue"/>
                        </a:rPr>
                        <a:t>Not highly customized</a:t>
                      </a:r>
                    </a:p>
                  </a:txBody>
                  <a:tcPr marL="109728" marR="109728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 i="0">
                          <a:solidFill>
                            <a:srgbClr val="1E293B"/>
                          </a:solidFill>
                          <a:latin typeface="Helvetica Neue"/>
                        </a:rPr>
                        <a:t>Per-child `AgentDefinition` + skills gating</a:t>
                      </a:r>
                      <a:r>
                        <a:rPr sz="1400" b="0" i="0">
                          <a:solidFill>
                            <a:srgbClr val="1E293B"/>
                          </a:solidFill>
                          <a:latin typeface="Helvetica Neue"/>
                        </a:rPr>
                        <a:t> — age-aware capabilities (3–5 / 6–8 / 9–12); persona shared as system context to every specialist</a:t>
                      </a:r>
                    </a:p>
                  </a:txBody>
                  <a:tcPr marL="109728" marR="109728" marT="54864" marB="54864" anchor="ctr">
                    <a:solidFill>
                      <a:srgbClr val="FFFFFF"/>
                    </a:solidFill>
                  </a:tcPr>
                </a:tc>
              </a:tr>
              <a:tr h="841248"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1E293B"/>
                          </a:solidFill>
                          <a:latin typeface="Helvetica Neue"/>
                        </a:rPr>
                        <a:t>No suited news for kids</a:t>
                      </a:r>
                    </a:p>
                  </a:txBody>
                  <a:tcPr marL="109728" marR="109728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 i="0">
                          <a:solidFill>
                            <a:srgbClr val="1E293B"/>
                          </a:solidFill>
                          <a:latin typeface="Helvetica Neue"/>
                        </a:rPr>
                        <a:t>`kids_daily` specialist</a:t>
                      </a:r>
                      <a:r>
                        <a:rPr sz="1400" b="0" i="0">
                          <a:solidFill>
                            <a:srgbClr val="1E293B"/>
                          </a:solidFill>
                          <a:latin typeface="Helvetica Neue"/>
                        </a:rPr>
                        <a:t> — age-stratified prompts + per-reply safety review; news arrives as a kid-safe podcast in the buddy's voice</a:t>
                      </a:r>
                    </a:p>
                  </a:txBody>
                  <a:tcPr marL="109728" marR="109728" marT="54864" marB="54864" anchor="ctr">
                    <a:solidFill>
                      <a:srgbClr val="FFFFFF"/>
                    </a:solidFill>
                  </a:tcPr>
                </a:tc>
              </a:tr>
              <a:tr h="841248"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1E293B"/>
                          </a:solidFill>
                          <a:latin typeface="Helvetica Neue"/>
                        </a:rPr>
                        <a:t>No long-term persistence</a:t>
                      </a:r>
                    </a:p>
                  </a:txBody>
                  <a:tcPr marL="109728" marR="109728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 i="0">
                          <a:solidFill>
                            <a:srgbClr val="1E293B"/>
                          </a:solidFill>
                          <a:latin typeface="Helvetica Neue"/>
                        </a:rPr>
                        <a:t>`agent_repo` + `character_repo` + vector search</a:t>
                      </a:r>
                      <a:r>
                        <a:rPr sz="1400" b="0" i="0">
                          <a:solidFill>
                            <a:srgbClr val="1E293B"/>
                          </a:solidFill>
                          <a:latin typeface="Helvetica Neue"/>
                        </a:rPr>
                        <a:t> — buddy persona and recurring characters survive every session; one buddy, for life</a:t>
                      </a:r>
                    </a:p>
                  </a:txBody>
                  <a:tcPr marL="109728" marR="109728" marT="54864" marB="54864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640080" y="6126480"/>
            <a:ext cx="109728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 i="0">
                <a:solidFill>
                  <a:srgbClr val="64748B"/>
                </a:solidFill>
                <a:latin typeface="Helvetica Neue"/>
              </a:rPr>
              <a:t>What kids feel: interactive (streaming) · proactive (recommendations + recall) · persistent (memory).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200" b="1" i="0">
                <a:solidFill>
                  <a:srgbClr val="1E293B"/>
                </a:solidFill>
                <a:latin typeface="Helvetica Neue"/>
              </a:rPr>
              <a:t>Foundation — six agentic features, one stack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640080" y="1371600"/>
          <a:ext cx="10908792" cy="4480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8165592"/>
              </a:tblGrid>
              <a:tr h="640080">
                <a:tc>
                  <a:txBody>
                    <a:bodyPr wrap="square"/>
                    <a:lstStyle/>
                    <a:p>
                      <a:r>
                        <a:rPr sz="1600" b="1" i="0">
                          <a:solidFill>
                            <a:srgbClr val="7C3AED"/>
                          </a:solidFill>
                          <a:latin typeface="Helvetica Neue"/>
                        </a:rPr>
                        <a:t>Agentic feature</a:t>
                      </a:r>
                    </a:p>
                  </a:txBody>
                  <a:tcPr marL="109728" marR="109728" marT="54864" marB="54864" anchor="ctr">
                    <a:solidFill>
                      <a:srgbClr val="F5F3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1" i="0">
                          <a:solidFill>
                            <a:srgbClr val="7C3AED"/>
                          </a:solidFill>
                          <a:latin typeface="Helvetica Neue"/>
                        </a:rPr>
                        <a:t>How we build it</a:t>
                      </a:r>
                    </a:p>
                  </a:txBody>
                  <a:tcPr marL="109728" marR="109728" marT="54864" marB="54864" anchor="ctr">
                    <a:solidFill>
                      <a:srgbClr val="F5F3FF"/>
                    </a:solidFill>
                  </a:tcPr>
                </a:tc>
              </a:tr>
              <a:tr h="640080"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1E293B"/>
                          </a:solidFill>
                          <a:latin typeface="Helvetica Neue"/>
                        </a:rPr>
                        <a:t>🌊 Interactive</a:t>
                      </a:r>
                    </a:p>
                  </a:txBody>
                  <a:tcPr marL="109728" marR="109728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1E293B"/>
                          </a:solidFill>
                          <a:latin typeface="Helvetica Neue"/>
                        </a:rPr>
                        <a:t>Streaming </a:t>
                      </a:r>
                      <a:r>
                        <a:rPr sz="1400" b="1" i="0">
                          <a:solidFill>
                            <a:srgbClr val="1E293B"/>
                          </a:solidFill>
                          <a:latin typeface="Helvetica Neue"/>
                        </a:rPr>
                        <a:t>SSE</a:t>
                      </a:r>
                      <a:r>
                        <a:rPr sz="1400" b="0" i="0">
                          <a:solidFill>
                            <a:srgbClr val="1E293B"/>
                          </a:solidFill>
                          <a:latin typeface="Helvetica Neue"/>
                        </a:rPr>
                        <a:t> · async-generator agents · live tool-use events</a:t>
                      </a:r>
                    </a:p>
                  </a:txBody>
                  <a:tcPr marL="109728" marR="109728" marT="54864" marB="54864" anchor="ctr"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1E293B"/>
                          </a:solidFill>
                          <a:latin typeface="Helvetica Neue"/>
                        </a:rPr>
                        <a:t>🎯 Responsive</a:t>
                      </a:r>
                    </a:p>
                  </a:txBody>
                  <a:tcPr marL="109728" marR="109728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 i="0">
                          <a:solidFill>
                            <a:srgbClr val="1E293B"/>
                          </a:solidFill>
                          <a:latin typeface="Helvetica Neue"/>
                        </a:rPr>
                        <a:t>LLM model</a:t>
                      </a:r>
                      <a:r>
                        <a:rPr sz="1400" b="0" i="0">
                          <a:solidFill>
                            <a:srgbClr val="1E293B"/>
                          </a:solidFill>
                          <a:latin typeface="Helvetica Neue"/>
                        </a:rPr>
                        <a:t> (Claude Haiku for speed) · deterministic + LLM intent routing · per-agent skill curation</a:t>
                      </a:r>
                    </a:p>
                  </a:txBody>
                  <a:tcPr marL="109728" marR="109728" marT="54864" marB="54864" anchor="ctr"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1E293B"/>
                          </a:solidFill>
                          <a:latin typeface="Helvetica Neue"/>
                        </a:rPr>
                        <a:t>💡 Proactive</a:t>
                      </a:r>
                    </a:p>
                  </a:txBody>
                  <a:tcPr marL="109728" marR="109728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 i="0">
                          <a:solidFill>
                            <a:srgbClr val="1E293B"/>
                          </a:solidFill>
                          <a:latin typeface="Helvetica Neue"/>
                        </a:rPr>
                        <a:t>Prompt engineering</a:t>
                      </a:r>
                      <a:r>
                        <a:rPr sz="1400" b="0" i="0">
                          <a:solidFill>
                            <a:srgbClr val="1E293B"/>
                          </a:solidFill>
                          <a:latin typeface="Helvetica Neue"/>
                        </a:rPr>
                        <a:t> (system-prompt scaffolding) · </a:t>
                      </a:r>
                      <a:r>
                        <a:rPr sz="1400" b="1" i="0">
                          <a:solidFill>
                            <a:srgbClr val="1E293B"/>
                          </a:solidFill>
                          <a:latin typeface="Helvetica Neue"/>
                        </a:rPr>
                        <a:t>vector DB</a:t>
                      </a:r>
                      <a:r>
                        <a:rPr sz="1400" b="0" i="0">
                          <a:solidFill>
                            <a:srgbClr val="1E293B"/>
                          </a:solidFill>
                          <a:latin typeface="Helvetica Neue"/>
                        </a:rPr>
                        <a:t> recall · </a:t>
                      </a:r>
                      <a:r>
                        <a:rPr sz="1400" b="0" i="0">
                          <a:solidFill>
                            <a:srgbClr val="1E293B"/>
                          </a:solidFill>
                          <a:latin typeface="Menlo"/>
                        </a:rPr>
                        <a:t>character_repo</a:t>
                      </a:r>
                      <a:r>
                        <a:rPr sz="1400" b="0" i="0">
                          <a:solidFill>
                            <a:srgbClr val="1E293B"/>
                          </a:solidFill>
                          <a:latin typeface="Helvetica Neue"/>
                        </a:rPr>
                        <a:t> lookups</a:t>
                      </a:r>
                    </a:p>
                  </a:txBody>
                  <a:tcPr marL="109728" marR="109728" marT="54864" marB="54864" anchor="ctr"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1E293B"/>
                          </a:solidFill>
                          <a:latin typeface="Helvetica Neue"/>
                        </a:rPr>
                        <a:t>🧠 Persistent</a:t>
                      </a:r>
                    </a:p>
                  </a:txBody>
                  <a:tcPr marL="109728" marR="109728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 i="0">
                          <a:solidFill>
                            <a:srgbClr val="1E293B"/>
                          </a:solidFill>
                          <a:latin typeface="Helvetica Neue"/>
                        </a:rPr>
                        <a:t>Vector DB</a:t>
                      </a:r>
                      <a:r>
                        <a:rPr sz="1400" b="0" i="0">
                          <a:solidFill>
                            <a:srgbClr val="1E293B"/>
                          </a:solidFill>
                          <a:latin typeface="Helvetica Neue"/>
                        </a:rPr>
                        <a:t> (ChromaDB / pgvector) · </a:t>
                      </a:r>
                      <a:r>
                        <a:rPr sz="1400" b="0" i="0">
                          <a:solidFill>
                            <a:srgbClr val="1E293B"/>
                          </a:solidFill>
                          <a:latin typeface="Menlo"/>
                        </a:rPr>
                        <a:t>agent_repo</a:t>
                      </a:r>
                      <a:r>
                        <a:rPr sz="1400" b="0" i="0">
                          <a:solidFill>
                            <a:srgbClr val="1E293B"/>
                          </a:solidFill>
                          <a:latin typeface="Helvetica Neue"/>
                        </a:rPr>
                        <a:t> + </a:t>
                      </a:r>
                      <a:r>
                        <a:rPr sz="1400" b="0" i="0">
                          <a:solidFill>
                            <a:srgbClr val="1E293B"/>
                          </a:solidFill>
                          <a:latin typeface="Menlo"/>
                        </a:rPr>
                        <a:t>character_repo</a:t>
                      </a:r>
                      <a:r>
                        <a:rPr sz="1400" b="0" i="0">
                          <a:solidFill>
                            <a:srgbClr val="1E293B"/>
                          </a:solidFill>
                          <a:latin typeface="Helvetica Neue"/>
                        </a:rPr>
                        <a:t> (SQL) · cross-session memory</a:t>
                      </a:r>
                    </a:p>
                  </a:txBody>
                  <a:tcPr marL="109728" marR="109728" marT="54864" marB="54864" anchor="ctr"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1E293B"/>
                          </a:solidFill>
                          <a:latin typeface="Helvetica Neue"/>
                        </a:rPr>
                        <a:t>🛡️ Reactive</a:t>
                      </a:r>
                    </a:p>
                  </a:txBody>
                  <a:tcPr marL="109728" marR="109728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 i="0">
                          <a:solidFill>
                            <a:srgbClr val="1E293B"/>
                          </a:solidFill>
                          <a:latin typeface="Helvetica Neue"/>
                        </a:rPr>
                        <a:t>MCP</a:t>
                      </a:r>
                      <a:r>
                        <a:rPr sz="1400" b="0" i="0">
                          <a:solidFill>
                            <a:srgbClr val="1E293B"/>
                          </a:solidFill>
                          <a:latin typeface="Helvetica Neue"/>
                        </a:rPr>
                        <a:t> safety tool · </a:t>
                      </a:r>
                      <a:r>
                        <a:rPr sz="1400" b="0" i="0">
                          <a:solidFill>
                            <a:srgbClr val="1E293B"/>
                          </a:solidFill>
                          <a:latin typeface="Menlo"/>
                        </a:rPr>
                        <a:t>@tool</a:t>
                      </a:r>
                      <a:r>
                        <a:rPr sz="1400" b="0" i="0">
                          <a:solidFill>
                            <a:srgbClr val="1E293B"/>
                          </a:solidFill>
                          <a:latin typeface="Helvetica Neue"/>
                        </a:rPr>
                        <a:t> decorator · </a:t>
                      </a:r>
                      <a:r>
                        <a:rPr sz="1400" b="0" i="0">
                          <a:solidFill>
                            <a:srgbClr val="1E293B"/>
                          </a:solidFill>
                          <a:latin typeface="Menlo"/>
                        </a:rPr>
                        <a:t>enforce_chat_safety</a:t>
                      </a:r>
                      <a:r>
                        <a:rPr sz="1400" b="0" i="0">
                          <a:solidFill>
                            <a:srgbClr val="1E293B"/>
                          </a:solidFill>
                          <a:latin typeface="Helvetica Neue"/>
                        </a:rPr>
                        <a:t> + suggest-and-retry · age-aware thresholds (0.90 / 0.85)</a:t>
                      </a:r>
                    </a:p>
                  </a:txBody>
                  <a:tcPr marL="109728" marR="109728" marT="54864" marB="54864" anchor="ctr"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1E293B"/>
                          </a:solidFill>
                          <a:latin typeface="Helvetica Neue"/>
                        </a:rPr>
                        <a:t>🚀 Autonomous (future)</a:t>
                      </a:r>
                    </a:p>
                  </a:txBody>
                  <a:tcPr marL="109728" marR="109728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1E293B"/>
                          </a:solidFill>
                          <a:latin typeface="Helvetica Neue"/>
                        </a:rPr>
                        <a:t>Multi-step planning · </a:t>
                      </a:r>
                      <a:r>
                        <a:rPr sz="1400" b="1" i="0">
                          <a:solidFill>
                            <a:srgbClr val="1E293B"/>
                          </a:solidFill>
                          <a:latin typeface="Helvetica Neue"/>
                        </a:rPr>
                        <a:t>skills</a:t>
                      </a:r>
                      <a:r>
                        <a:rPr sz="1400" b="0" i="0">
                          <a:solidFill>
                            <a:srgbClr val="1E293B"/>
                          </a:solidFill>
                          <a:latin typeface="Helvetica Neue"/>
                        </a:rPr>
                        <a:t> composition · self-prompted explore loops · scheduled buddy initiatives</a:t>
                      </a:r>
                    </a:p>
                  </a:txBody>
                  <a:tcPr marL="109728" marR="109728" marT="54864" marB="54864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640080" y="6126480"/>
            <a:ext cx="109728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 i="0">
                <a:solidFill>
                  <a:srgbClr val="64748B"/>
                </a:solidFill>
                <a:latin typeface="Helvetica Neue"/>
              </a:rPr>
              <a:t>Built from: prompt engineering · MCP · tools · skills · LLM model · vector DB.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200" b="1" i="0">
                <a:solidFill>
                  <a:srgbClr val="1E293B"/>
                </a:solidFill>
                <a:latin typeface="Helvetica Neue"/>
              </a:rPr>
              <a:t>Four agent architecture patterns — we use all four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640080" y="1463040"/>
          <a:ext cx="10908791" cy="4023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57200"/>
                <a:gridCol w="2468880"/>
                <a:gridCol w="3931920"/>
                <a:gridCol w="4050791"/>
              </a:tblGrid>
              <a:tr h="804672">
                <a:tc>
                  <a:txBody>
                    <a:bodyPr wrap="square"/>
                    <a:lstStyle/>
                    <a:p>
                      <a:r>
                        <a:rPr sz="1600" b="1" i="0">
                          <a:solidFill>
                            <a:srgbClr val="7C3AED"/>
                          </a:solidFill>
                          <a:latin typeface="Helvetica Neue"/>
                        </a:rPr>
                        <a:t>#</a:t>
                      </a:r>
                    </a:p>
                  </a:txBody>
                  <a:tcPr marL="109728" marR="109728" marT="54864" marB="54864" anchor="ctr">
                    <a:solidFill>
                      <a:srgbClr val="F5F3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1" i="0">
                          <a:solidFill>
                            <a:srgbClr val="7C3AED"/>
                          </a:solidFill>
                          <a:latin typeface="Helvetica Neue"/>
                        </a:rPr>
                        <a:t>Pattern</a:t>
                      </a:r>
                    </a:p>
                  </a:txBody>
                  <a:tcPr marL="109728" marR="109728" marT="54864" marB="54864" anchor="ctr">
                    <a:solidFill>
                      <a:srgbClr val="F5F3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1" i="0">
                          <a:solidFill>
                            <a:srgbClr val="7C3AED"/>
                          </a:solidFill>
                          <a:latin typeface="Helvetica Neue"/>
                        </a:rPr>
                        <a:t>What it does</a:t>
                      </a:r>
                    </a:p>
                  </a:txBody>
                  <a:tcPr marL="109728" marR="109728" marT="54864" marB="54864" anchor="ctr">
                    <a:solidFill>
                      <a:srgbClr val="F5F3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1" i="0">
                          <a:solidFill>
                            <a:srgbClr val="7C3AED"/>
                          </a:solidFill>
                          <a:latin typeface="Helvetica Neue"/>
                        </a:rPr>
                        <a:t>Where we use it</a:t>
                      </a:r>
                    </a:p>
                  </a:txBody>
                  <a:tcPr marL="109728" marR="109728" marT="54864" marB="54864" anchor="ctr">
                    <a:solidFill>
                      <a:srgbClr val="F5F3FF"/>
                    </a:solidFill>
                  </a:tcPr>
                </a:tc>
              </a:tr>
              <a:tr h="804672"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1E293B"/>
                          </a:solidFill>
                          <a:latin typeface="Helvetica Neue"/>
                        </a:rPr>
                        <a:t>1</a:t>
                      </a:r>
                    </a:p>
                  </a:txBody>
                  <a:tcPr marL="109728" marR="109728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1E293B"/>
                          </a:solidFill>
                          <a:latin typeface="Helvetica Neue"/>
                        </a:rPr>
                        <a:t>🤖 Single agent</a:t>
                      </a:r>
                    </a:p>
                  </a:txBody>
                  <a:tcPr marL="109728" marR="109728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1E293B"/>
                          </a:solidFill>
                          <a:latin typeface="Helvetica Neue"/>
                        </a:rPr>
                        <a:t>One agent, one job · linear inference</a:t>
                      </a:r>
                    </a:p>
                  </a:txBody>
                  <a:tcPr marL="109728" marR="109728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1E293B"/>
                          </a:solidFill>
                          <a:latin typeface="Helvetica Neue"/>
                        </a:rPr>
                        <a:t>Straight TTS via </a:t>
                      </a:r>
                      <a:r>
                        <a:rPr sz="1400" b="0" i="0">
                          <a:solidFill>
                            <a:srgbClr val="1E293B"/>
                          </a:solidFill>
                          <a:latin typeface="Menlo"/>
                        </a:rPr>
                        <a:t>audio_narration</a:t>
                      </a:r>
                    </a:p>
                  </a:txBody>
                  <a:tcPr marL="109728" marR="109728" marT="54864" marB="54864" anchor="ctr">
                    <a:solidFill>
                      <a:srgbClr val="FFFFFF"/>
                    </a:solidFill>
                  </a:tcPr>
                </a:tc>
              </a:tr>
              <a:tr h="804672"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1E293B"/>
                          </a:solidFill>
                          <a:latin typeface="Helvetica Neue"/>
                        </a:rPr>
                        <a:t>2</a:t>
                      </a:r>
                    </a:p>
                  </a:txBody>
                  <a:tcPr marL="109728" marR="109728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1E293B"/>
                          </a:solidFill>
                          <a:latin typeface="Helvetica Neue"/>
                        </a:rPr>
                        <a:t>🔀 Sub-agent fan-out</a:t>
                      </a:r>
                    </a:p>
                  </a:txBody>
                  <a:tcPr marL="109728" marR="109728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1E293B"/>
                          </a:solidFill>
                          <a:latin typeface="Helvetica Neue"/>
                        </a:rPr>
                        <a:t>Same task spawned in parallel for speed</a:t>
                      </a:r>
                    </a:p>
                  </a:txBody>
                  <a:tcPr marL="109728" marR="109728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1E293B"/>
                          </a:solidFill>
                          <a:latin typeface="Helvetica Neue"/>
                        </a:rPr>
                        <a:t>Concurrent vision crops · parallel </a:t>
                      </a:r>
                      <a:r>
                        <a:rPr sz="1400" b="0" i="0">
                          <a:solidFill>
                            <a:srgbClr val="1E293B"/>
                          </a:solidFill>
                          <a:latin typeface="Menlo"/>
                        </a:rPr>
                        <a:t>character_repo</a:t>
                      </a:r>
                      <a:r>
                        <a:rPr sz="1400" b="0" i="0">
                          <a:solidFill>
                            <a:srgbClr val="1E293B"/>
                          </a:solidFill>
                          <a:latin typeface="Helvetica Neue"/>
                        </a:rPr>
                        <a:t> lookups</a:t>
                      </a:r>
                    </a:p>
                  </a:txBody>
                  <a:tcPr marL="109728" marR="109728" marT="54864" marB="54864" anchor="ctr">
                    <a:solidFill>
                      <a:srgbClr val="FFFFFF"/>
                    </a:solidFill>
                  </a:tcPr>
                </a:tc>
              </a:tr>
              <a:tr h="804672"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1E293B"/>
                          </a:solidFill>
                          <a:latin typeface="Helvetica Neue"/>
                        </a:rPr>
                        <a:t>3</a:t>
                      </a:r>
                    </a:p>
                  </a:txBody>
                  <a:tcPr marL="109728" marR="109728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1E293B"/>
                          </a:solidFill>
                          <a:latin typeface="Helvetica Neue"/>
                        </a:rPr>
                        <a:t>👥 Agent team</a:t>
                      </a:r>
                    </a:p>
                  </a:txBody>
                  <a:tcPr marL="109728" marR="109728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1E293B"/>
                          </a:solidFill>
                          <a:latin typeface="Helvetica Neue"/>
                        </a:rPr>
                        <a:t>Multiple agents collaborate by </a:t>
                      </a:r>
                      <a:r>
                        <a:rPr sz="1400" b="1" i="0">
                          <a:solidFill>
                            <a:srgbClr val="1E293B"/>
                          </a:solidFill>
                          <a:latin typeface="Helvetica Neue"/>
                        </a:rPr>
                        <a:t>role</a:t>
                      </a:r>
                      <a:r>
                        <a:rPr sz="1400" b="0" i="0">
                          <a:solidFill>
                            <a:srgbClr val="1E293B"/>
                          </a:solidFill>
                          <a:latin typeface="Helvetica Neue"/>
                        </a:rPr>
                        <a:t> · via </a:t>
                      </a:r>
                      <a:r>
                        <a:rPr sz="1400" b="0" i="0">
                          <a:solidFill>
                            <a:srgbClr val="1E293B"/>
                          </a:solidFill>
                          <a:latin typeface="Menlo"/>
                        </a:rPr>
                        <a:t>AgentDefinition</a:t>
                      </a:r>
                    </a:p>
                  </a:txBody>
                  <a:tcPr marL="109728" marR="109728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 i="0">
                          <a:solidFill>
                            <a:srgbClr val="1E293B"/>
                          </a:solidFill>
                          <a:latin typeface="Helvetica Neue"/>
                        </a:rPr>
                        <a:t>My Agent</a:t>
                      </a:r>
                      <a:r>
                        <a:rPr sz="1400" b="0" i="0">
                          <a:solidFill>
                            <a:srgbClr val="1E293B"/>
                          </a:solidFill>
                          <a:latin typeface="Helvetica Neue"/>
                        </a:rPr>
                        <a:t>: proxy + 4 role specialists + </a:t>
                      </a:r>
                      <a:r>
                        <a:rPr sz="1400" b="0" i="0">
                          <a:solidFill>
                            <a:srgbClr val="1E293B"/>
                          </a:solidFill>
                          <a:latin typeface="Menlo"/>
                        </a:rPr>
                        <a:t>safety_review</a:t>
                      </a:r>
                    </a:p>
                  </a:txBody>
                  <a:tcPr marL="109728" marR="109728" marT="54864" marB="54864" anchor="ctr">
                    <a:solidFill>
                      <a:srgbClr val="FFFFFF"/>
                    </a:solidFill>
                  </a:tcPr>
                </a:tc>
              </a:tr>
              <a:tr h="804672"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1E293B"/>
                          </a:solidFill>
                          <a:latin typeface="Helvetica Neue"/>
                        </a:rPr>
                        <a:t>4</a:t>
                      </a:r>
                    </a:p>
                  </a:txBody>
                  <a:tcPr marL="109728" marR="109728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1E293B"/>
                          </a:solidFill>
                          <a:latin typeface="Helvetica Neue"/>
                        </a:rPr>
                        <a:t>🎼 Multi-agent orchestrator</a:t>
                      </a:r>
                    </a:p>
                  </a:txBody>
                  <a:tcPr marL="109728" marR="109728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1E293B"/>
                          </a:solidFill>
                          <a:latin typeface="Helvetica Neue"/>
                        </a:rPr>
                        <a:t>Agents created </a:t>
                      </a:r>
                      <a:r>
                        <a:rPr sz="1400" b="1" i="0">
                          <a:solidFill>
                            <a:srgbClr val="1E293B"/>
                          </a:solidFill>
                          <a:latin typeface="Helvetica Neue"/>
                        </a:rPr>
                        <a:t>dynamically</a:t>
                      </a:r>
                      <a:r>
                        <a:rPr sz="1400" b="0" i="0">
                          <a:solidFill>
                            <a:srgbClr val="1E293B"/>
                          </a:solidFill>
                          <a:latin typeface="Helvetica Neue"/>
                        </a:rPr>
                        <a:t> · A2A extensible</a:t>
                      </a:r>
                    </a:p>
                  </a:txBody>
                  <a:tcPr marL="109728" marR="109728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1E293B"/>
                          </a:solidFill>
                          <a:latin typeface="Helvetica Neue"/>
                        </a:rPr>
                        <a:t>Proxy registers new </a:t>
                      </a:r>
                      <a:r>
                        <a:rPr sz="1400" b="0" i="0">
                          <a:solidFill>
                            <a:srgbClr val="1E293B"/>
                          </a:solidFill>
                          <a:latin typeface="Menlo"/>
                        </a:rPr>
                        <a:t>AgentDefinition</a:t>
                      </a:r>
                      <a:r>
                        <a:rPr sz="1400" b="0" i="0">
                          <a:solidFill>
                            <a:srgbClr val="1E293B"/>
                          </a:solidFill>
                          <a:latin typeface="Helvetica Neue"/>
                        </a:rPr>
                        <a:t>s at runtime</a:t>
                      </a:r>
                    </a:p>
                  </a:txBody>
                  <a:tcPr marL="109728" marR="109728" marT="54864" marB="54864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640080" y="6126480"/>
            <a:ext cx="109728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 i="0">
                <a:solidFill>
                  <a:srgbClr val="64748B"/>
                </a:solidFill>
                <a:latin typeface="Helvetica Neue"/>
              </a:rPr>
              <a:t>Shared state flows through build_my_agent_context(). A2A extends to external teams (future).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200" b="1" i="0">
                <a:solidFill>
                  <a:srgbClr val="1E293B"/>
                </a:solidFill>
                <a:latin typeface="Helvetica Neue"/>
              </a:rPr>
              <a:t>Six memory types — one buddy, layered recall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640080" y="1371600"/>
          <a:ext cx="10908792" cy="4480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57200"/>
                <a:gridCol w="2194560"/>
                <a:gridCol w="4023360"/>
                <a:gridCol w="4233672"/>
              </a:tblGrid>
              <a:tr h="640080">
                <a:tc>
                  <a:txBody>
                    <a:bodyPr wrap="square"/>
                    <a:lstStyle/>
                    <a:p>
                      <a:r>
                        <a:rPr sz="1600" b="1" i="0">
                          <a:solidFill>
                            <a:srgbClr val="7C3AED"/>
                          </a:solidFill>
                          <a:latin typeface="Helvetica Neue"/>
                        </a:rPr>
                        <a:t>#</a:t>
                      </a:r>
                    </a:p>
                  </a:txBody>
                  <a:tcPr marL="109728" marR="109728" marT="54864" marB="54864" anchor="ctr">
                    <a:solidFill>
                      <a:srgbClr val="F5F3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1" i="0">
                          <a:solidFill>
                            <a:srgbClr val="7C3AED"/>
                          </a:solidFill>
                          <a:latin typeface="Helvetica Neue"/>
                        </a:rPr>
                        <a:t>Memory type</a:t>
                      </a:r>
                    </a:p>
                  </a:txBody>
                  <a:tcPr marL="109728" marR="109728" marT="54864" marB="54864" anchor="ctr">
                    <a:solidFill>
                      <a:srgbClr val="F5F3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1" i="0">
                          <a:solidFill>
                            <a:srgbClr val="7C3AED"/>
                          </a:solidFill>
                          <a:latin typeface="Helvetica Neue"/>
                        </a:rPr>
                        <a:t>What it stores</a:t>
                      </a:r>
                    </a:p>
                  </a:txBody>
                  <a:tcPr marL="109728" marR="109728" marT="54864" marB="54864" anchor="ctr">
                    <a:solidFill>
                      <a:srgbClr val="F5F3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1" i="0">
                          <a:solidFill>
                            <a:srgbClr val="7C3AED"/>
                          </a:solidFill>
                          <a:latin typeface="Helvetica Neue"/>
                        </a:rPr>
                        <a:t>Backed by</a:t>
                      </a:r>
                    </a:p>
                  </a:txBody>
                  <a:tcPr marL="109728" marR="109728" marT="54864" marB="54864" anchor="ctr">
                    <a:solidFill>
                      <a:srgbClr val="F5F3FF"/>
                    </a:solidFill>
                  </a:tcPr>
                </a:tc>
              </a:tr>
              <a:tr h="640080"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1E293B"/>
                          </a:solidFill>
                          <a:latin typeface="Helvetica Neue"/>
                        </a:rPr>
                        <a:t>1</a:t>
                      </a:r>
                    </a:p>
                  </a:txBody>
                  <a:tcPr marL="109728" marR="109728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1E293B"/>
                          </a:solidFill>
                          <a:latin typeface="Helvetica Neue"/>
                        </a:rPr>
                        <a:t>🗨️ Session</a:t>
                      </a:r>
                    </a:p>
                  </a:txBody>
                  <a:tcPr marL="109728" marR="109728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1E293B"/>
                          </a:solidFill>
                          <a:latin typeface="Helvetica Neue"/>
                        </a:rPr>
                        <a:t>This-chat conversation history</a:t>
                      </a:r>
                    </a:p>
                  </a:txBody>
                  <a:tcPr marL="109728" marR="109728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1E293B"/>
                          </a:solidFill>
                          <a:latin typeface="Menlo"/>
                        </a:rPr>
                        <a:t>agent_chat_repository</a:t>
                      </a:r>
                    </a:p>
                  </a:txBody>
                  <a:tcPr marL="109728" marR="109728" marT="54864" marB="54864" anchor="ctr"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1E293B"/>
                          </a:solidFill>
                          <a:latin typeface="Helvetica Neue"/>
                        </a:rPr>
                        <a:t>2</a:t>
                      </a:r>
                    </a:p>
                  </a:txBody>
                  <a:tcPr marL="109728" marR="109728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1E293B"/>
                          </a:solidFill>
                          <a:latin typeface="Helvetica Neue"/>
                        </a:rPr>
                        <a:t>⚡ Working</a:t>
                      </a:r>
                    </a:p>
                  </a:txBody>
                  <a:tcPr marL="109728" marR="109728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1E293B"/>
                          </a:solidFill>
                          <a:latin typeface="Helvetica Neue"/>
                        </a:rPr>
                        <a:t>Per-turn execution context (tool results, persona)</a:t>
                      </a:r>
                    </a:p>
                  </a:txBody>
                  <a:tcPr marL="109728" marR="109728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1E293B"/>
                          </a:solidFill>
                          <a:latin typeface="Menlo"/>
                        </a:rPr>
                        <a:t>build_my_agent_context()</a:t>
                      </a:r>
                    </a:p>
                  </a:txBody>
                  <a:tcPr marL="109728" marR="109728" marT="54864" marB="54864" anchor="ctr"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1E293B"/>
                          </a:solidFill>
                          <a:latin typeface="Helvetica Neue"/>
                        </a:rPr>
                        <a:t>3</a:t>
                      </a:r>
                    </a:p>
                  </a:txBody>
                  <a:tcPr marL="109728" marR="109728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1E293B"/>
                          </a:solidFill>
                          <a:latin typeface="Helvetica Neue"/>
                        </a:rPr>
                        <a:t>📅 Episodic</a:t>
                      </a:r>
                    </a:p>
                  </a:txBody>
                  <a:tcPr marL="109728" marR="109728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1E293B"/>
                          </a:solidFill>
                          <a:latin typeface="Helvetica Neue"/>
                        </a:rPr>
                        <a:t>Past creations — stories, podcasts, choices</a:t>
                      </a:r>
                    </a:p>
                  </a:txBody>
                  <a:tcPr marL="109728" marR="109728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1E293B"/>
                          </a:solidFill>
                          <a:latin typeface="Menlo"/>
                        </a:rPr>
                        <a:t>stories</a:t>
                      </a:r>
                      <a:r>
                        <a:rPr sz="1400" b="0" i="0">
                          <a:solidFill>
                            <a:srgbClr val="1E293B"/>
                          </a:solidFill>
                          <a:latin typeface="Helvetica Neue"/>
                        </a:rPr>
                        <a:t> · </a:t>
                      </a:r>
                      <a:r>
                        <a:rPr sz="1400" b="0" i="0">
                          <a:solidFill>
                            <a:srgbClr val="1E293B"/>
                          </a:solidFill>
                          <a:latin typeface="Menlo"/>
                        </a:rPr>
                        <a:t>interactive_sessions</a:t>
                      </a:r>
                      <a:r>
                        <a:rPr sz="1400" b="0" i="0">
                          <a:solidFill>
                            <a:srgbClr val="1E293B"/>
                          </a:solidFill>
                          <a:latin typeface="Helvetica Neue"/>
                        </a:rPr>
                        <a:t> · </a:t>
                      </a:r>
                      <a:r>
                        <a:rPr sz="1400" b="0" i="0">
                          <a:solidFill>
                            <a:srgbClr val="1E293B"/>
                          </a:solidFill>
                          <a:latin typeface="Menlo"/>
                        </a:rPr>
                        <a:t>kids_daily_episodes</a:t>
                      </a:r>
                    </a:p>
                  </a:txBody>
                  <a:tcPr marL="109728" marR="109728" marT="54864" marB="54864" anchor="ctr"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1E293B"/>
                          </a:solidFill>
                          <a:latin typeface="Helvetica Neue"/>
                        </a:rPr>
                        <a:t>4</a:t>
                      </a:r>
                    </a:p>
                  </a:txBody>
                  <a:tcPr marL="109728" marR="109728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1E293B"/>
                          </a:solidFill>
                          <a:latin typeface="Helvetica Neue"/>
                        </a:rPr>
                        <a:t>📋 Factual</a:t>
                      </a:r>
                    </a:p>
                  </a:txBody>
                  <a:tcPr marL="109728" marR="109728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1E293B"/>
                          </a:solidFill>
                          <a:latin typeface="Helvetica Neue"/>
                        </a:rPr>
                        <a:t>Buddy persona, child profile, preferences</a:t>
                      </a:r>
                    </a:p>
                  </a:txBody>
                  <a:tcPr marL="109728" marR="109728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1E293B"/>
                          </a:solidFill>
                          <a:latin typeface="Menlo"/>
                        </a:rPr>
                        <a:t>agent_repo</a:t>
                      </a:r>
                      <a:r>
                        <a:rPr sz="1400" b="0" i="0">
                          <a:solidFill>
                            <a:srgbClr val="1E293B"/>
                          </a:solidFill>
                          <a:latin typeface="Helvetica Neue"/>
                        </a:rPr>
                        <a:t> · </a:t>
                      </a:r>
                      <a:r>
                        <a:rPr sz="1400" b="0" i="0">
                          <a:solidFill>
                            <a:srgbClr val="1E293B"/>
                          </a:solidFill>
                          <a:latin typeface="Menlo"/>
                        </a:rPr>
                        <a:t>preference_repository</a:t>
                      </a:r>
                      <a:r>
                        <a:rPr sz="1400" b="0" i="0">
                          <a:solidFill>
                            <a:srgbClr val="1E293B"/>
                          </a:solidFill>
                          <a:latin typeface="Helvetica Neue"/>
                        </a:rPr>
                        <a:t> · </a:t>
                      </a:r>
                      <a:r>
                        <a:rPr sz="1400" b="0" i="0">
                          <a:solidFill>
                            <a:srgbClr val="1E293B"/>
                          </a:solidFill>
                          <a:latin typeface="Menlo"/>
                        </a:rPr>
                        <a:t>users</a:t>
                      </a:r>
                    </a:p>
                  </a:txBody>
                  <a:tcPr marL="109728" marR="109728" marT="54864" marB="54864" anchor="ctr"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1E293B"/>
                          </a:solidFill>
                          <a:latin typeface="Helvetica Neue"/>
                        </a:rPr>
                        <a:t>5</a:t>
                      </a:r>
                    </a:p>
                  </a:txBody>
                  <a:tcPr marL="109728" marR="109728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1E293B"/>
                          </a:solidFill>
                          <a:latin typeface="Helvetica Neue"/>
                        </a:rPr>
                        <a:t>🧠 Semantic</a:t>
                      </a:r>
                    </a:p>
                  </a:txBody>
                  <a:tcPr marL="109728" marR="109728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1E293B"/>
                          </a:solidFill>
                          <a:latin typeface="Helvetica Neue"/>
                        </a:rPr>
                        <a:t>Embeddings of characters, themes, style</a:t>
                      </a:r>
                    </a:p>
                  </a:txBody>
                  <a:tcPr marL="109728" marR="109728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1E293B"/>
                          </a:solidFill>
                          <a:latin typeface="Helvetica Neue"/>
                        </a:rPr>
                        <a:t>ChromaDB / pgvector via </a:t>
                      </a:r>
                      <a:r>
                        <a:rPr sz="1400" b="0" i="0">
                          <a:solidFill>
                            <a:srgbClr val="1E293B"/>
                          </a:solidFill>
                          <a:latin typeface="Menlo"/>
                        </a:rPr>
                        <a:t>vector_search_server</a:t>
                      </a:r>
                    </a:p>
                  </a:txBody>
                  <a:tcPr marL="109728" marR="109728" marT="54864" marB="54864" anchor="ctr"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1E293B"/>
                          </a:solidFill>
                          <a:latin typeface="Helvetica Neue"/>
                        </a:rPr>
                        <a:t>6</a:t>
                      </a:r>
                    </a:p>
                  </a:txBody>
                  <a:tcPr marL="109728" marR="109728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1E293B"/>
                          </a:solidFill>
                          <a:latin typeface="Helvetica Neue"/>
                        </a:rPr>
                        <a:t>🛠️ Procedural</a:t>
                      </a:r>
                    </a:p>
                  </a:txBody>
                  <a:tcPr marL="109728" marR="109728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1E293B"/>
                          </a:solidFill>
                          <a:latin typeface="Helvetica Neue"/>
                        </a:rPr>
                        <a:t>How to generate each content type</a:t>
                      </a:r>
                    </a:p>
                  </a:txBody>
                  <a:tcPr marL="109728" marR="109728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1E293B"/>
                          </a:solidFill>
                          <a:latin typeface="Menlo"/>
                        </a:rPr>
                        <a:t>prompts/*.md</a:t>
                      </a:r>
                      <a:r>
                        <a:rPr sz="1400" b="0" i="0">
                          <a:solidFill>
                            <a:srgbClr val="1E293B"/>
                          </a:solidFill>
                          <a:latin typeface="Helvetica Neue"/>
                        </a:rPr>
                        <a:t> · </a:t>
                      </a:r>
                      <a:r>
                        <a:rPr sz="1400" b="0" i="0">
                          <a:solidFill>
                            <a:srgbClr val="1E293B"/>
                          </a:solidFill>
                          <a:latin typeface="Menlo"/>
                        </a:rPr>
                        <a:t>@tool</a:t>
                      </a:r>
                      <a:r>
                        <a:rPr sz="1400" b="0" i="0">
                          <a:solidFill>
                            <a:srgbClr val="1E293B"/>
                          </a:solidFill>
                          <a:latin typeface="Helvetica Neue"/>
                        </a:rPr>
                        <a:t> skills · </a:t>
                      </a:r>
                      <a:r>
                        <a:rPr sz="1400" b="0" i="0">
                          <a:solidFill>
                            <a:srgbClr val="1E293B"/>
                          </a:solidFill>
                          <a:latin typeface="Menlo"/>
                        </a:rPr>
                        <a:t>enabled_skills</a:t>
                      </a:r>
                    </a:p>
                  </a:txBody>
                  <a:tcPr marL="109728" marR="109728" marT="54864" marB="54864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640080" y="6126480"/>
            <a:ext cx="109728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 i="0">
                <a:solidFill>
                  <a:srgbClr val="64748B"/>
                </a:solidFill>
                <a:latin typeface="Helvetica Neue"/>
              </a:rPr>
              <a:t>The buddy remembers, understands, acts, talks, and reasons in flight.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65760"/>
            <a:ext cx="109728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 i="0">
                <a:solidFill>
                  <a:srgbClr val="F472B6"/>
                </a:solidFill>
                <a:latin typeface="Helvetica Neue"/>
              </a:rPr>
              <a:t>The team — one proxy, four specialists, one safety gate</a:t>
            </a:r>
          </a:p>
        </p:txBody>
      </p:sp>
      <p:pic>
        <p:nvPicPr>
          <p:cNvPr id="3" name="Picture 2" descr="archite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09847" y="1371600"/>
            <a:ext cx="4572000" cy="4572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40080" y="6126480"/>
            <a:ext cx="10972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 i="0">
                <a:solidFill>
                  <a:srgbClr val="94A3B8"/>
                </a:solidFill>
                <a:latin typeface="Helvetica Neue"/>
              </a:rPr>
              <a:t>Built on Claude Agent SDK + custom MCP tool servers.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200" b="1" i="0">
                <a:solidFill>
                  <a:srgbClr val="1E293B"/>
                </a:solidFill>
                <a:latin typeface="Helvetica Neue"/>
              </a:rPr>
              <a:t>Three-layer infrastructure — each service does one thing</a:t>
            </a:r>
          </a:p>
        </p:txBody>
      </p:sp>
      <p:pic>
        <p:nvPicPr>
          <p:cNvPr id="3" name="Picture 2" descr="infrastru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64127" y="1371600"/>
            <a:ext cx="4663440" cy="466344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200" b="1" i="0">
                <a:solidFill>
                  <a:srgbClr val="1E293B"/>
                </a:solidFill>
                <a:latin typeface="Helvetica Neue"/>
              </a:rPr>
              <a:t>Backend — seven layers, one direction</a:t>
            </a:r>
          </a:p>
        </p:txBody>
      </p:sp>
      <p:pic>
        <p:nvPicPr>
          <p:cNvPr id="3" name="Picture 2" descr="backend-laye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72687" y="1280160"/>
            <a:ext cx="484632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200" b="1" i="0">
                <a:solidFill>
                  <a:srgbClr val="1E293B"/>
                </a:solidFill>
                <a:latin typeface="Helvetica Neue"/>
              </a:rPr>
              <a:t>The buddy — three states, one identity</a:t>
            </a:r>
          </a:p>
        </p:txBody>
      </p:sp>
      <p:pic>
        <p:nvPicPr>
          <p:cNvPr id="3" name="Picture 2" descr="buddy-stat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447" y="1463040"/>
            <a:ext cx="10972800" cy="2719937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40080" y="6126480"/>
            <a:ext cx="109728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 i="0">
                <a:solidFill>
                  <a:srgbClr val="64748B"/>
                </a:solidFill>
                <a:latin typeface="Helvetica Neue"/>
              </a:rPr>
              <a:t>Empty state → Customize (name, avatar, theme) → Chat. Three React states, one persona, persisted across every session.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200" b="1" i="0">
                <a:solidFill>
                  <a:srgbClr val="1E293B"/>
                </a:solidFill>
                <a:latin typeface="Helvetica Neue"/>
              </a:rPr>
              <a:t>What the buddy creates — three surfaces, one character</a:t>
            </a:r>
          </a:p>
        </p:txBody>
      </p:sp>
      <p:pic>
        <p:nvPicPr>
          <p:cNvPr id="3" name="Picture 2" descr="system-creat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06804" y="1325880"/>
            <a:ext cx="9378086" cy="3291840"/>
          </a:xfrm>
          <a:prstGeom prst="rect">
            <a:avLst/>
          </a:prstGeom>
        </p:spPr>
      </p:pic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80" y="4800600"/>
          <a:ext cx="10908792" cy="1005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36264"/>
                <a:gridCol w="3636264"/>
                <a:gridCol w="3636264"/>
              </a:tblGrid>
              <a:tr h="502920">
                <a:tc>
                  <a:txBody>
                    <a:bodyPr wrap="square"/>
                    <a:lstStyle/>
                    <a:p>
                      <a:r>
                        <a:rPr sz="1600" b="1" i="0">
                          <a:solidFill>
                            <a:srgbClr val="7C3AED"/>
                          </a:solidFill>
                          <a:latin typeface="Helvetica Neue"/>
                        </a:rPr>
                        <a:t>📖 Image-to-Story</a:t>
                      </a:r>
                    </a:p>
                  </a:txBody>
                  <a:tcPr marL="109728" marR="109728" marT="54864" marB="54864" anchor="ctr">
                    <a:solidFill>
                      <a:srgbClr val="F5F3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1" i="0">
                          <a:solidFill>
                            <a:srgbClr val="7C3AED"/>
                          </a:solidFill>
                          <a:latin typeface="Helvetica Neue"/>
                        </a:rPr>
                        <a:t>🌟 Interactive Story</a:t>
                      </a:r>
                    </a:p>
                  </a:txBody>
                  <a:tcPr marL="109728" marR="109728" marT="54864" marB="54864" anchor="ctr">
                    <a:solidFill>
                      <a:srgbClr val="F5F3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1" i="0">
                          <a:solidFill>
                            <a:srgbClr val="7C3AED"/>
                          </a:solidFill>
                          <a:latin typeface="Helvetica Neue"/>
                        </a:rPr>
                        <a:t>🎙️ Kids Daily</a:t>
                      </a:r>
                    </a:p>
                  </a:txBody>
                  <a:tcPr marL="109728" marR="109728" marT="54864" marB="54864" anchor="ctr">
                    <a:solidFill>
                      <a:srgbClr val="F5F3FF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1E293B"/>
                          </a:solidFill>
                          <a:latin typeface="Helvetica Neue"/>
                        </a:rPr>
                        <a:t>The Singing Shells of Coral Bay — art story with illustrated cover</a:t>
                      </a:r>
                    </a:p>
                  </a:txBody>
                  <a:tcPr marL="109728" marR="109728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1E293B"/>
                          </a:solidFill>
                          <a:latin typeface="Helvetica Neue"/>
                        </a:rPr>
                        <a:t>Ember and the Golden Dragon — branching scene with 3 choice cards</a:t>
                      </a:r>
                    </a:p>
                  </a:txBody>
                  <a:tcPr marL="109728" marR="109728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1E293B"/>
                          </a:solidFill>
                          <a:latin typeface="Helvetica Neue"/>
                        </a:rPr>
                        <a:t>Amazing Animals and How We Keep Them Safe — episode + transcript + audio</a:t>
                      </a:r>
                    </a:p>
                  </a:txBody>
                  <a:tcPr marL="109728" marR="109728" marT="54864" marB="54864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40080" y="5989320"/>
            <a:ext cx="109728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 i="0">
                <a:solidFill>
                  <a:srgbClr val="64748B"/>
                </a:solidFill>
                <a:latin typeface="Helvetica Neue"/>
              </a:rPr>
              <a:t>Same character — Ember + the recurring crew — across all three. Real outputs from the live app.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200" b="1" i="0">
                <a:solidFill>
                  <a:srgbClr val="1E293B"/>
                </a:solidFill>
                <a:latin typeface="Helvetica Neue"/>
              </a:rPr>
              <a:t>Community &amp; sharing — COPPA by schema, not by policy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640080" y="1554480"/>
          <a:ext cx="10908792" cy="3291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572000"/>
                <a:gridCol w="6336792"/>
              </a:tblGrid>
              <a:tr h="822960">
                <a:tc>
                  <a:txBody>
                    <a:bodyPr wrap="square"/>
                    <a:lstStyle/>
                    <a:p>
                      <a:r>
                        <a:rPr sz="1600" b="1" i="0">
                          <a:solidFill>
                            <a:srgbClr val="7C3AED"/>
                          </a:solidFill>
                          <a:latin typeface="Helvetica Neue"/>
                        </a:rPr>
                        <a:t>Where most products fail</a:t>
                      </a:r>
                    </a:p>
                  </a:txBody>
                  <a:tcPr marL="109728" marR="109728" marT="54864" marB="54864" anchor="ctr">
                    <a:solidFill>
                      <a:srgbClr val="F5F3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1" i="0">
                          <a:solidFill>
                            <a:srgbClr val="7C3AED"/>
                          </a:solidFill>
                          <a:latin typeface="Helvetica Neue"/>
                        </a:rPr>
                        <a:t>What we do</a:t>
                      </a:r>
                    </a:p>
                  </a:txBody>
                  <a:tcPr marL="109728" marR="109728" marT="54864" marB="54864" anchor="ctr">
                    <a:solidFill>
                      <a:srgbClr val="F5F3FF"/>
                    </a:solidFill>
                  </a:tcPr>
                </a:tc>
              </a:tr>
              <a:tr h="822960"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1E293B"/>
                          </a:solidFill>
                          <a:latin typeface="Helvetica Neue"/>
                        </a:rPr>
                        <a:t>Posts JOIN to </a:t>
                      </a:r>
                      <a:r>
                        <a:rPr sz="1400" b="0" i="0">
                          <a:solidFill>
                            <a:srgbClr val="1E293B"/>
                          </a:solidFill>
                          <a:latin typeface="Menlo"/>
                        </a:rPr>
                        <a:t>users.name</a:t>
                      </a:r>
                      <a:r>
                        <a:rPr sz="1400" b="0" i="0">
                          <a:solidFill>
                            <a:srgbClr val="1E293B"/>
                          </a:solidFill>
                          <a:latin typeface="Helvetica Neue"/>
                        </a:rPr>
                        <a:t> for byline</a:t>
                      </a:r>
                    </a:p>
                  </a:txBody>
                  <a:tcPr marL="109728" marR="109728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1E293B"/>
                          </a:solidFill>
                          <a:latin typeface="Menlo"/>
                        </a:rPr>
                        <a:t>hub_posts.agent_name</a:t>
                      </a:r>
                      <a:r>
                        <a:rPr sz="1400" b="0" i="0">
                          <a:solidFill>
                            <a:srgbClr val="1E293B"/>
                          </a:solidFill>
                          <a:latin typeface="Helvetica Neue"/>
                        </a:rPr>
                        <a:t> is a </a:t>
                      </a:r>
                      <a:r>
                        <a:rPr sz="1400" b="1" i="0">
                          <a:solidFill>
                            <a:srgbClr val="1E293B"/>
                          </a:solidFill>
                          <a:latin typeface="Helvetica Neue"/>
                        </a:rPr>
                        <a:t>snapshot column</a:t>
                      </a:r>
                      <a:r>
                        <a:rPr sz="1400" b="0" i="0">
                          <a:solidFill>
                            <a:srgbClr val="1E293B"/>
                          </a:solidFill>
                          <a:latin typeface="Helvetica Neue"/>
                        </a:rPr>
                        <a:t> — written at post time, never JOINed</a:t>
                      </a:r>
                    </a:p>
                  </a:txBody>
                  <a:tcPr marL="109728" marR="109728" marT="54864" marB="54864" anchor="ctr">
                    <a:solidFill>
                      <a:srgbClr val="FFFFFF"/>
                    </a:solidFill>
                  </a:tcPr>
                </a:tc>
              </a:tr>
              <a:tr h="822960"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1E293B"/>
                          </a:solidFill>
                          <a:latin typeface="Menlo"/>
                        </a:rPr>
                        <a:t>users.email</a:t>
                      </a:r>
                      <a:r>
                        <a:rPr sz="1400" b="0" i="0">
                          <a:solidFill>
                            <a:srgbClr val="1E293B"/>
                          </a:solidFill>
                          <a:latin typeface="Helvetica Neue"/>
                        </a:rPr>
                        <a:t> accidentally leaks via API</a:t>
                      </a:r>
                    </a:p>
                  </a:txBody>
                  <a:tcPr marL="109728" marR="109728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1E293B"/>
                          </a:solidFill>
                          <a:latin typeface="Helvetica Neue"/>
                        </a:rPr>
                        <a:t>Read paths can't reach </a:t>
                      </a:r>
                      <a:r>
                        <a:rPr sz="1400" b="0" i="0">
                          <a:solidFill>
                            <a:srgbClr val="1E293B"/>
                          </a:solidFill>
                          <a:latin typeface="Menlo"/>
                        </a:rPr>
                        <a:t>users</a:t>
                      </a:r>
                      <a:r>
                        <a:rPr sz="1400" b="0" i="0">
                          <a:solidFill>
                            <a:srgbClr val="1E293B"/>
                          </a:solidFill>
                          <a:latin typeface="Helvetica Neue"/>
                        </a:rPr>
                        <a:t> at all — schema doesn't allow it</a:t>
                      </a:r>
                    </a:p>
                  </a:txBody>
                  <a:tcPr marL="109728" marR="109728" marT="54864" marB="54864" anchor="ctr">
                    <a:solidFill>
                      <a:srgbClr val="FFFFFF"/>
                    </a:solidFill>
                  </a:tcPr>
                </a:tc>
              </a:tr>
              <a:tr h="822960"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1E293B"/>
                          </a:solidFill>
                          <a:latin typeface="Helvetica Neue"/>
                        </a:rPr>
                        <a:t>Safety is a code-review checklist</a:t>
                      </a:r>
                    </a:p>
                  </a:txBody>
                  <a:tcPr marL="109728" marR="109728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1E293B"/>
                          </a:solidFill>
                          <a:latin typeface="Helvetica Neue"/>
                        </a:rPr>
                        <a:t>Safety is a CHECK constraint + invariant test</a:t>
                      </a:r>
                    </a:p>
                  </a:txBody>
                  <a:tcPr marL="109728" marR="109728" marT="54864" marB="54864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640080" y="6126480"/>
            <a:ext cx="109728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 i="0">
                <a:solidFill>
                  <a:srgbClr val="64748B"/>
                </a:solidFill>
                <a:latin typeface="Helvetica Neue"/>
              </a:rPr>
              <a:t>Every Hub post is bylined by the buddy persona, never the child. Verified by test_hub_coppa_invariant.py.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200" b="1" i="0">
                <a:solidFill>
                  <a:srgbClr val="1E293B"/>
                </a:solidFill>
                <a:latin typeface="Helvetica Neue"/>
              </a:rPr>
              <a:t>Open by design — one AgentDefinition adds a specialist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737360"/>
            <a:ext cx="10332720" cy="329184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txBody>
          <a:bodyPr wrap="square" lIns="274320" rIns="274320" tIns="182880" bIns="182880">
            <a:spAutoFit/>
          </a:bodyPr>
          <a:lstStyle/>
          <a:p>
            <a:r>
              <a:rPr sz="1500">
                <a:solidFill>
                  <a:srgbClr val="64748B"/>
                </a:solidFill>
                <a:latin typeface="Menlo"/>
              </a:rPr>
              <a:t># Adding a "music_story" specialist to the agent team:</a:t>
            </a:r>
          </a:p>
          <a:p>
            <a:r>
              <a:rPr sz="1500">
                <a:solidFill>
                  <a:srgbClr val="0F172A"/>
                </a:solidFill>
                <a:latin typeface="Menlo"/>
              </a:rPr>
              <a:t>proxy.register(AgentDefinition(</a:t>
            </a:r>
          </a:p>
          <a:p>
            <a:r>
              <a:rPr sz="1500">
                <a:solidFill>
                  <a:srgbClr val="0F172A"/>
                </a:solidFill>
                <a:latin typeface="Menlo"/>
              </a:rPr>
              <a:t>    name="music_story",</a:t>
            </a:r>
          </a:p>
          <a:p>
            <a:r>
              <a:rPr sz="1500">
                <a:solidFill>
                  <a:srgbClr val="0F172A"/>
                </a:solidFill>
                <a:latin typeface="Menlo"/>
              </a:rPr>
              <a:t>    model="haiku",</a:t>
            </a:r>
          </a:p>
          <a:p>
            <a:r>
              <a:rPr sz="1500">
                <a:solidFill>
                  <a:srgbClr val="0F172A"/>
                </a:solidFill>
                <a:latin typeface="Menlo"/>
              </a:rPr>
              <a:t>    system_prompt=Path("prompts/music-story.md").read_text(),</a:t>
            </a:r>
          </a:p>
          <a:p>
            <a:r>
              <a:rPr sz="1500">
                <a:solidFill>
                  <a:srgbClr val="0F172A"/>
                </a:solidFill>
                <a:latin typeface="Menlo"/>
              </a:rPr>
              <a:t>    tools=["music_generator", "vector_search"],</a:t>
            </a:r>
          </a:p>
          <a:p>
            <a:r>
              <a:rPr sz="1500">
                <a:solidFill>
                  <a:srgbClr val="0F172A"/>
                </a:solidFill>
                <a:latin typeface="Menlo"/>
              </a:rPr>
              <a:t>    enabled_skills=["compose"],</a:t>
            </a:r>
          </a:p>
          <a:p>
            <a:r>
              <a:rPr sz="1500">
                <a:solidFill>
                  <a:srgbClr val="0F172A"/>
                </a:solidFill>
                <a:latin typeface="Menlo"/>
              </a:rPr>
              <a:t>))</a:t>
            </a:r>
          </a:p>
          <a:p>
            <a:r>
              <a:rPr sz="1500">
                <a:solidFill>
                  <a:srgbClr val="0F172A"/>
                </a:solidFill>
                <a:latin typeface="Menlo"/>
              </a:rPr>
              <a:t> </a:t>
            </a:r>
          </a:p>
          <a:p>
            <a:r>
              <a:rPr sz="1500">
                <a:solidFill>
                  <a:srgbClr val="64748B"/>
                </a:solidFill>
                <a:latin typeface="Menlo"/>
              </a:rPr>
              <a:t># Routing picks it up automatically. Safety gate runs on every reply.</a:t>
            </a:r>
          </a:p>
          <a:p>
            <a:r>
              <a:rPr sz="1500">
                <a:solidFill>
                  <a:srgbClr val="64748B"/>
                </a:solidFill>
                <a:latin typeface="Menlo"/>
              </a:rPr>
              <a:t># Shared context (persona, child_id, recurring chars) flows in.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303520"/>
            <a:ext cx="109728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 i="0">
                <a:solidFill>
                  <a:srgbClr val="64748B"/>
                </a:solidFill>
                <a:latin typeface="Helvetica Neue"/>
              </a:rPr>
              <a:t>A2A bridge (future) extends to external agent teams via the same registration contract.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200" b="1" i="0">
                <a:solidFill>
                  <a:srgbClr val="1E293B"/>
                </a:solidFill>
                <a:latin typeface="Helvetica Neue"/>
              </a:rPr>
              <a:t>Roadmap — two phases shipped, two ahead</a:t>
            </a:r>
          </a:p>
        </p:txBody>
      </p:sp>
      <p:pic>
        <p:nvPicPr>
          <p:cNvPr id="3" name="Picture 2" descr="roadm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01287" y="1554480"/>
            <a:ext cx="4389120" cy="438912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200" b="1" i="0">
                <a:solidFill>
                  <a:srgbClr val="1E293B"/>
                </a:solidFill>
                <a:latin typeface="Helvetica Neue"/>
              </a:rPr>
              <a:t>Where we are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640080" y="1554480"/>
          <a:ext cx="10908792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229600"/>
                <a:gridCol w="2679192"/>
              </a:tblGrid>
              <a:tr h="594360">
                <a:tc>
                  <a:txBody>
                    <a:bodyPr wrap="square"/>
                    <a:lstStyle/>
                    <a:p>
                      <a:r>
                        <a:rPr sz="1600" b="1" i="0">
                          <a:solidFill>
                            <a:srgbClr val="7C3AED"/>
                          </a:solidFill>
                          <a:latin typeface="Helvetica Neue"/>
                        </a:rPr>
                        <a:t>Milestone</a:t>
                      </a:r>
                    </a:p>
                  </a:txBody>
                  <a:tcPr marL="109728" marR="109728" marT="54864" marB="54864" anchor="ctr">
                    <a:solidFill>
                      <a:srgbClr val="F5F3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1" i="0">
                          <a:solidFill>
                            <a:srgbClr val="7C3AED"/>
                          </a:solidFill>
                          <a:latin typeface="Helvetica Neue"/>
                        </a:rPr>
                        <a:t>Status</a:t>
                      </a:r>
                    </a:p>
                  </a:txBody>
                  <a:tcPr marL="109728" marR="109728" marT="54864" marB="54864" anchor="ctr">
                    <a:solidFill>
                      <a:srgbClr val="F5F3FF"/>
                    </a:solidFill>
                  </a:tcPr>
                </a:tc>
              </a:tr>
              <a:tr h="594360"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1E293B"/>
                          </a:solidFill>
                          <a:latin typeface="Helvetica Neue"/>
                        </a:rPr>
                        <a:t>Phase 1 — MVP: single agent + image-to-story + safety + TTS</a:t>
                      </a:r>
                    </a:p>
                  </a:txBody>
                  <a:tcPr marL="109728" marR="109728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1E293B"/>
                          </a:solidFill>
                          <a:latin typeface="Helvetica Neue"/>
                        </a:rPr>
                        <a:t>✅ 92/92 shipped</a:t>
                      </a:r>
                    </a:p>
                  </a:txBody>
                  <a:tcPr marL="109728" marR="109728" marT="54864" marB="54864" anchor="ctr">
                    <a:solidFill>
                      <a:srgbClr val="FFFFFF"/>
                    </a:solidFill>
                  </a:tcPr>
                </a:tc>
              </a:tr>
              <a:tr h="594360"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1E293B"/>
                          </a:solidFill>
                          <a:latin typeface="Helvetica Neue"/>
                        </a:rPr>
                        <a:t>Phase 2 — multi-agent team + memory + news + community</a:t>
                      </a:r>
                    </a:p>
                  </a:txBody>
                  <a:tcPr marL="109728" marR="109728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1E293B"/>
                          </a:solidFill>
                          <a:latin typeface="Helvetica Neue"/>
                        </a:rPr>
                        <a:t>✅ 180/180 shipped</a:t>
                      </a:r>
                    </a:p>
                  </a:txBody>
                  <a:tcPr marL="109728" marR="109728" marT="54864" marB="54864" anchor="ctr">
                    <a:solidFill>
                      <a:srgbClr val="FFFFFF"/>
                    </a:solidFill>
                  </a:tcPr>
                </a:tc>
              </a:tr>
              <a:tr h="594360"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1E293B"/>
                          </a:solidFill>
                          <a:latin typeface="Helvetica Neue"/>
                        </a:rPr>
                        <a:t>Phase 3 — video · parent dashboard · gamification</a:t>
                      </a:r>
                    </a:p>
                  </a:txBody>
                  <a:tcPr marL="109728" marR="109728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1E293B"/>
                          </a:solidFill>
                          <a:latin typeface="Helvetica Neue"/>
                        </a:rPr>
                        <a:t>🔜 In design</a:t>
                      </a:r>
                    </a:p>
                  </a:txBody>
                  <a:tcPr marL="109728" marR="109728" marT="54864" marB="54864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640080" y="4297680"/>
            <a:ext cx="1097280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0" i="0">
                <a:solidFill>
                  <a:srgbClr val="1E293B"/>
                </a:solidFill>
                <a:latin typeface="Helvetica Neue"/>
              </a:rPr>
              <a:t>Engineering rigor: 700+ contract tests · per-reply programmatic safety (age-aware) · silent safety-bypass caught + fixed in 24h · merge-train of 7 PRs landed last week.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669280"/>
            <a:ext cx="109728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 i="0">
                <a:solidFill>
                  <a:srgbClr val="64748B"/>
                </a:solidFill>
                <a:latin typeface="Helvetica Neue"/>
              </a:rPr>
              <a:t>Add real numbers before presenting: pilot users · sessions/week · feedback quotes.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200" b="1" i="0">
                <a:solidFill>
                  <a:srgbClr val="1E293B"/>
                </a:solidFill>
                <a:latin typeface="Helvetica Neue"/>
              </a:rPr>
              <a:t>Failures we owned — receipts, not theater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640080" y="1554480"/>
          <a:ext cx="10908792" cy="3657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17520"/>
                <a:gridCol w="3931920"/>
                <a:gridCol w="3959352"/>
              </a:tblGrid>
              <a:tr h="914400">
                <a:tc>
                  <a:txBody>
                    <a:bodyPr wrap="square"/>
                    <a:lstStyle/>
                    <a:p>
                      <a:r>
                        <a:rPr sz="1600" b="1" i="0">
                          <a:solidFill>
                            <a:srgbClr val="7C3AED"/>
                          </a:solidFill>
                          <a:latin typeface="Helvetica Neue"/>
                        </a:rPr>
                        <a:t>What we tried</a:t>
                      </a:r>
                    </a:p>
                  </a:txBody>
                  <a:tcPr marL="109728" marR="109728" marT="54864" marB="54864" anchor="ctr">
                    <a:solidFill>
                      <a:srgbClr val="F5F3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1" i="0">
                          <a:solidFill>
                            <a:srgbClr val="7C3AED"/>
                          </a:solidFill>
                          <a:latin typeface="Helvetica Neue"/>
                        </a:rPr>
                        <a:t>How it broke</a:t>
                      </a:r>
                    </a:p>
                  </a:txBody>
                  <a:tcPr marL="109728" marR="109728" marT="54864" marB="54864" anchor="ctr">
                    <a:solidFill>
                      <a:srgbClr val="F5F3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1" i="0">
                          <a:solidFill>
                            <a:srgbClr val="7C3AED"/>
                          </a:solidFill>
                          <a:latin typeface="Helvetica Neue"/>
                        </a:rPr>
                        <a:t>What we did about it</a:t>
                      </a:r>
                    </a:p>
                  </a:txBody>
                  <a:tcPr marL="109728" marR="109728" marT="54864" marB="54864" anchor="ctr">
                    <a:solidFill>
                      <a:srgbClr val="F5F3FF"/>
                    </a:solidFill>
                  </a:tcPr>
                </a:tc>
              </a:tr>
              <a:tr h="914400">
                <a:tc>
                  <a:txBody>
                    <a:bodyPr wrap="square"/>
                    <a:lstStyle/>
                    <a:p>
                      <a:r>
                        <a:rPr sz="1400" b="1" i="0">
                          <a:solidFill>
                            <a:srgbClr val="1E293B"/>
                          </a:solidFill>
                          <a:latin typeface="Helvetica Neue"/>
                        </a:rPr>
                        <a:t>SDK subprocess</a:t>
                      </a:r>
                      <a:r>
                        <a:rPr sz="1400" b="0" i="0">
                          <a:solidFill>
                            <a:srgbClr val="1E293B"/>
                          </a:solidFill>
                          <a:latin typeface="Helvetica Neue"/>
                        </a:rPr>
                        <a:t> for image-to-story</a:t>
                      </a:r>
                    </a:p>
                  </a:txBody>
                  <a:tcPr marL="109728" marR="109728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1E293B"/>
                          </a:solidFill>
                          <a:latin typeface="Helvetica Neue"/>
                        </a:rPr>
                        <a:t>Railway exit -9 · OOM kills under load</a:t>
                      </a:r>
                    </a:p>
                  </a:txBody>
                  <a:tcPr marL="109728" marR="109728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1E293B"/>
                          </a:solidFill>
                          <a:latin typeface="Helvetica Neue"/>
                        </a:rPr>
                        <a:t>Ported all 3 generation agents to direct API · ~50% memory drop</a:t>
                      </a:r>
                    </a:p>
                  </a:txBody>
                  <a:tcPr marL="109728" marR="109728" marT="54864" marB="54864" anchor="ctr">
                    <a:solidFill>
                      <a:srgbClr val="FFFFFF"/>
                    </a:solidFill>
                  </a:tcPr>
                </a:tc>
              </a:tr>
              <a:tr h="914400"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1E293B"/>
                          </a:solidFill>
                          <a:latin typeface="Menlo"/>
                        </a:rPr>
                        <a:t>await check_content_safety({...})</a:t>
                      </a:r>
                    </a:p>
                  </a:txBody>
                  <a:tcPr marL="109728" marR="109728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1E293B"/>
                          </a:solidFill>
                          <a:latin typeface="Menlo"/>
                        </a:rPr>
                        <a:t>SdkMcpTool</a:t>
                      </a:r>
                      <a:r>
                        <a:rPr sz="1400" b="0" i="0">
                          <a:solidFill>
                            <a:srgbClr val="1E293B"/>
                          </a:solidFill>
                          <a:latin typeface="Helvetica Neue"/>
                        </a:rPr>
                        <a:t> wrapper not callable · </a:t>
                      </a:r>
                      <a:r>
                        <a:rPr sz="1400" b="0" i="0">
                          <a:solidFill>
                            <a:srgbClr val="1E293B"/>
                          </a:solidFill>
                          <a:latin typeface="Menlo"/>
                        </a:rPr>
                        <a:t>TypeError</a:t>
                      </a:r>
                      <a:r>
                        <a:rPr sz="1400" b="0" i="0">
                          <a:solidFill>
                            <a:srgbClr val="1E293B"/>
                          </a:solidFill>
                          <a:latin typeface="Helvetica Neue"/>
                        </a:rPr>
                        <a:t> swallowed → default 0.9 score</a:t>
                      </a:r>
                    </a:p>
                  </a:txBody>
                  <a:tcPr marL="109728" marR="109728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1E293B"/>
                          </a:solidFill>
                          <a:latin typeface="Helvetica Neue"/>
                        </a:rPr>
                        <a:t>Caught + fixed in 24h · </a:t>
                      </a:r>
                      <a:r>
                        <a:rPr sz="1400" b="0" i="0">
                          <a:solidFill>
                            <a:srgbClr val="1E293B"/>
                          </a:solidFill>
                          <a:latin typeface="Menlo"/>
                        </a:rPr>
                        <a:t>.handler</a:t>
                      </a:r>
                      <a:r>
                        <a:rPr sz="1400" b="0" i="0">
                          <a:solidFill>
                            <a:srgbClr val="1E293B"/>
                          </a:solidFill>
                          <a:latin typeface="Helvetica Neue"/>
                        </a:rPr>
                        <a:t> calling convention · 3 agents, 1 PR</a:t>
                      </a:r>
                    </a:p>
                  </a:txBody>
                  <a:tcPr marL="109728" marR="109728" marT="54864" marB="54864" anchor="ctr">
                    <a:solidFill>
                      <a:srgbClr val="FFFFFF"/>
                    </a:solidFill>
                  </a:tcPr>
                </a:tc>
              </a:tr>
              <a:tr h="914400">
                <a:tc>
                  <a:txBody>
                    <a:bodyPr wrap="square"/>
                    <a:lstStyle/>
                    <a:p>
                      <a:r>
                        <a:rPr sz="1400" b="1" i="0">
                          <a:solidFill>
                            <a:srgbClr val="1E293B"/>
                          </a:solidFill>
                          <a:latin typeface="Helvetica Neue"/>
                        </a:rPr>
                        <a:t>Single agent + safety prompt</a:t>
                      </a:r>
                    </a:p>
                  </a:txBody>
                  <a:tcPr marL="109728" marR="109728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1E293B"/>
                          </a:solidFill>
                          <a:latin typeface="Helvetica Neue"/>
                        </a:rPr>
                        <a:t>Model occasionally produced unsafe replies</a:t>
                      </a:r>
                    </a:p>
                  </a:txBody>
                  <a:tcPr marL="109728" marR="109728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1E293B"/>
                          </a:solidFill>
                          <a:latin typeface="Helvetica Neue"/>
                        </a:rPr>
                        <a:t>Per-reply programmatic safety subagent · age-aware · fail-closed retry</a:t>
                      </a:r>
                    </a:p>
                  </a:txBody>
                  <a:tcPr marL="109728" marR="109728" marT="54864" marB="54864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640080" y="6126480"/>
            <a:ext cx="109728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 i="0">
                <a:solidFill>
                  <a:srgbClr val="64748B"/>
                </a:solidFill>
                <a:latin typeface="Helvetica Neue"/>
              </a:rPr>
              <a:t>Most pitches hide bugs. We name ours — that's how you know we run safety like infrastructure.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2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640080"/>
            <a:ext cx="105156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4400" b="1" i="0">
                <a:solidFill>
                  <a:srgbClr val="DB2777"/>
                </a:solidFill>
                <a:latin typeface="Helvetica Neue"/>
              </a:rPr>
              <a:t>Why this matters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737360"/>
            <a:ext cx="10515600" cy="2926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100" b="0" i="0">
                <a:solidFill>
                  <a:srgbClr val="1E293B"/>
                </a:solidFill>
                <a:latin typeface="Helvetica Neue"/>
              </a:rPr>
              <a:t>Agentic from day one — not a wrapper, not a prompt. Real SDK, real tools, real orchestration.</a:t>
            </a:r>
          </a:p>
          <a:p>
            <a:pPr algn="l">
              <a:spcAft>
                <a:spcPts val="600"/>
              </a:spcAft>
            </a:pPr>
            <a:r>
              <a:rPr sz="2100" b="0" i="0">
                <a:solidFill>
                  <a:srgbClr val="1E293B"/>
                </a:solidFill>
                <a:latin typeface="Helvetica Neue"/>
              </a:rPr>
              <a:t>272 stories shipped across 3 milestones — execution proof.</a:t>
            </a:r>
          </a:p>
          <a:p>
            <a:pPr algn="l">
              <a:spcAft>
                <a:spcPts val="600"/>
              </a:spcAft>
            </a:pPr>
            <a:r>
              <a:rPr sz="2100" b="0" i="0">
                <a:solidFill>
                  <a:srgbClr val="1E293B"/>
                </a:solidFill>
                <a:latin typeface="Helvetica Neue"/>
              </a:rPr>
              <a:t>Programmatic safety on every reply — non-negotiable, code-enforced, not vibes.</a:t>
            </a:r>
          </a:p>
          <a:p>
            <a:pPr algn="l">
              <a:spcAft>
                <a:spcPts val="600"/>
              </a:spcAft>
            </a:pPr>
            <a:r>
              <a:rPr sz="2100" b="0" i="0">
                <a:solidFill>
                  <a:srgbClr val="1E293B"/>
                </a:solidFill>
                <a:latin typeface="Helvetica Neue"/>
              </a:rPr>
              <a:t>Community that protects child PII at the schema level — COPPA by construction.</a:t>
            </a:r>
          </a:p>
          <a:p>
            <a:pPr algn="l">
              <a:spcAft>
                <a:spcPts val="600"/>
              </a:spcAft>
            </a:pPr>
            <a:r>
              <a:rPr sz="2100" b="0" i="0">
                <a:solidFill>
                  <a:srgbClr val="1E293B"/>
                </a:solidFill>
                <a:latin typeface="Helvetica Neue"/>
              </a:rPr>
              <a:t>A buddy that grows with the child — character continuity across image, story, podcast, share.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4937760"/>
            <a:ext cx="105156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600" b="1" i="0">
                <a:solidFill>
                  <a:srgbClr val="DB2777"/>
                </a:solidFill>
                <a:latin typeface="Helvetica Neue"/>
              </a:rPr>
              <a:t>AI that grows up </a:t>
            </a:r>
            <a:r>
              <a:rPr sz="3600" b="1" i="1">
                <a:solidFill>
                  <a:srgbClr val="DB2777"/>
                </a:solidFill>
                <a:latin typeface="Helvetica Neue"/>
              </a:rPr>
              <a:t>with</a:t>
            </a:r>
            <a:r>
              <a:rPr sz="3600" b="1" i="0">
                <a:solidFill>
                  <a:srgbClr val="DB2777"/>
                </a:solidFill>
                <a:latin typeface="Helvetica Neue"/>
              </a:rPr>
              <a:t> kids — safely.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200" b="1" i="0">
                <a:solidFill>
                  <a:srgbClr val="1E293B"/>
                </a:solidFill>
                <a:latin typeface="Helvetica Neue"/>
              </a:rPr>
              <a:t>Appendix — technical deep-dive (backup for Q&amp;A)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640080" y="1371600"/>
          <a:ext cx="10908792" cy="457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4560"/>
                <a:gridCol w="8714232"/>
              </a:tblGrid>
              <a:tr h="508000">
                <a:tc>
                  <a:txBody>
                    <a:bodyPr wrap="square"/>
                    <a:lstStyle/>
                    <a:p>
                      <a:r>
                        <a:rPr sz="1600" b="1" i="0">
                          <a:solidFill>
                            <a:srgbClr val="7C3AED"/>
                          </a:solidFill>
                          <a:latin typeface="Helvetica Neue"/>
                        </a:rPr>
                        <a:t>Topic</a:t>
                      </a:r>
                    </a:p>
                  </a:txBody>
                  <a:tcPr marL="109728" marR="109728" marT="54864" marB="54864" anchor="ctr">
                    <a:solidFill>
                      <a:srgbClr val="F5F3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1" i="0">
                          <a:solidFill>
                            <a:srgbClr val="7C3AED"/>
                          </a:solidFill>
                          <a:latin typeface="Helvetica Neue"/>
                        </a:rPr>
                        <a:t>One-line answer</a:t>
                      </a:r>
                    </a:p>
                  </a:txBody>
                  <a:tcPr marL="109728" marR="109728" marT="54864" marB="54864" anchor="ctr">
                    <a:solidFill>
                      <a:srgbClr val="F5F3FF"/>
                    </a:solidFill>
                  </a:tcPr>
                </a:tc>
              </a:tr>
              <a:tr h="508000"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1E293B"/>
                          </a:solidFill>
                          <a:latin typeface="Helvetica Neue"/>
                        </a:rPr>
                        <a:t>Agent</a:t>
                      </a:r>
                    </a:p>
                  </a:txBody>
                  <a:tcPr marL="109728" marR="109728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1E293B"/>
                          </a:solidFill>
                          <a:latin typeface="Menlo"/>
                        </a:rPr>
                        <a:t>AgentDefinition(model, system_prompt, tools, enabled_skills)</a:t>
                      </a:r>
                      <a:r>
                        <a:rPr sz="1400" b="0" i="0">
                          <a:solidFill>
                            <a:srgbClr val="1E293B"/>
                          </a:solidFill>
                          <a:latin typeface="Helvetica Neue"/>
                        </a:rPr>
                        <a:t> — one specialist w/ a curated capability set</a:t>
                      </a:r>
                    </a:p>
                  </a:txBody>
                  <a:tcPr marL="109728" marR="109728" marT="54864" marB="54864" anchor="ctr">
                    <a:solidFill>
                      <a:srgbClr val="FFFFFF"/>
                    </a:solidFill>
                  </a:tcPr>
                </a:tc>
              </a:tr>
              <a:tr h="508000"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1E293B"/>
                          </a:solidFill>
                          <a:latin typeface="Helvetica Neue"/>
                        </a:rPr>
                        <a:t>Subagent</a:t>
                      </a:r>
                    </a:p>
                  </a:txBody>
                  <a:tcPr marL="109728" marR="109728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1E293B"/>
                          </a:solidFill>
                          <a:latin typeface="Helvetica Neue"/>
                        </a:rPr>
                        <a:t>An agent registered under the proxy's </a:t>
                      </a:r>
                      <a:r>
                        <a:rPr sz="1400" b="0" i="0">
                          <a:solidFill>
                            <a:srgbClr val="1E293B"/>
                          </a:solidFill>
                          <a:latin typeface="Menlo"/>
                        </a:rPr>
                        <a:t>agents=</a:t>
                      </a:r>
                      <a:r>
                        <a:rPr sz="1400" b="0" i="0">
                          <a:solidFill>
                            <a:srgbClr val="1E293B"/>
                          </a:solidFill>
                          <a:latin typeface="Helvetica Neue"/>
                        </a:rPr>
                        <a:t> dict · invoked via the SDK's Agent tool delegation</a:t>
                      </a:r>
                    </a:p>
                  </a:txBody>
                  <a:tcPr marL="109728" marR="109728" marT="54864" marB="54864" anchor="ctr">
                    <a:solidFill>
                      <a:srgbClr val="FFFFFF"/>
                    </a:solidFill>
                  </a:tcPr>
                </a:tc>
              </a:tr>
              <a:tr h="508000"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1E293B"/>
                          </a:solidFill>
                          <a:latin typeface="Helvetica Neue"/>
                        </a:rPr>
                        <a:t>Agent team</a:t>
                      </a:r>
                    </a:p>
                  </a:txBody>
                  <a:tcPr marL="109728" marR="109728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1E293B"/>
                          </a:solidFill>
                          <a:latin typeface="Helvetica Neue"/>
                        </a:rPr>
                        <a:t>Proxy + 3 product subagents + audio_narration tool + safety_review · all share the context bus</a:t>
                      </a:r>
                    </a:p>
                  </a:txBody>
                  <a:tcPr marL="109728" marR="109728" marT="54864" marB="54864" anchor="ctr">
                    <a:solidFill>
                      <a:srgbClr val="FFFFFF"/>
                    </a:solidFill>
                  </a:tcPr>
                </a:tc>
              </a:tr>
              <a:tr h="508000"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1E293B"/>
                          </a:solidFill>
                          <a:latin typeface="Helvetica Neue"/>
                        </a:rPr>
                        <a:t>Orchestrator</a:t>
                      </a:r>
                    </a:p>
                  </a:txBody>
                  <a:tcPr marL="109728" marR="109728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1E293B"/>
                          </a:solidFill>
                          <a:latin typeface="Helvetica Neue"/>
                        </a:rPr>
                        <a:t>The proxy — routes intent · composes specialist outputs · runs safety_review on every reply</a:t>
                      </a:r>
                    </a:p>
                  </a:txBody>
                  <a:tcPr marL="109728" marR="109728" marT="54864" marB="54864" anchor="ctr">
                    <a:solidFill>
                      <a:srgbClr val="FFFFFF"/>
                    </a:solidFill>
                  </a:tcPr>
                </a:tc>
              </a:tr>
              <a:tr h="508000"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1E293B"/>
                          </a:solidFill>
                          <a:latin typeface="Helvetica Neue"/>
                        </a:rPr>
                        <a:t>Why this shape</a:t>
                      </a:r>
                    </a:p>
                  </a:txBody>
                  <a:tcPr marL="109728" marR="109728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1E293B"/>
                          </a:solidFill>
                          <a:latin typeface="Helvetica Neue"/>
                        </a:rPr>
                        <a:t>Bigger prompt degrades w/ specialty count · prompt chaining = no shared state · agent team = shared context + parallel specialty</a:t>
                      </a:r>
                    </a:p>
                  </a:txBody>
                  <a:tcPr marL="109728" marR="109728" marT="54864" marB="54864" anchor="ctr">
                    <a:solidFill>
                      <a:srgbClr val="FFFFFF"/>
                    </a:solidFill>
                  </a:tcPr>
                </a:tc>
              </a:tr>
              <a:tr h="508000"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1E293B"/>
                          </a:solidFill>
                          <a:latin typeface="Helvetica Neue"/>
                        </a:rPr>
                        <a:t>Per-reply safety</a:t>
                      </a:r>
                    </a:p>
                  </a:txBody>
                  <a:tcPr marL="109728" marR="109728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1E293B"/>
                          </a:solidFill>
                          <a:latin typeface="Menlo"/>
                        </a:rPr>
                        <a:t>enforce_chat_safety()</a:t>
                      </a:r>
                      <a:r>
                        <a:rPr sz="1400" b="0" i="0">
                          <a:solidFill>
                            <a:srgbClr val="1E293B"/>
                          </a:solidFill>
                          <a:latin typeface="Helvetica Neue"/>
                        </a:rPr>
                        <a:t> after every reply · age-aware threshold · suggest-improvements retry · </a:t>
                      </a:r>
                      <a:r>
                        <a:rPr sz="1400" b="0" i="0">
                          <a:solidFill>
                            <a:srgbClr val="1E293B"/>
                          </a:solidFill>
                          <a:latin typeface="Menlo"/>
                        </a:rPr>
                        <a:t>safety_blocked</a:t>
                      </a:r>
                      <a:r>
                        <a:rPr sz="1400" b="0" i="0">
                          <a:solidFill>
                            <a:srgbClr val="1E293B"/>
                          </a:solidFill>
                          <a:latin typeface="Helvetica Neue"/>
                        </a:rPr>
                        <a:t> telemetry</a:t>
                      </a:r>
                    </a:p>
                  </a:txBody>
                  <a:tcPr marL="109728" marR="109728" marT="54864" marB="54864" anchor="ctr">
                    <a:solidFill>
                      <a:srgbClr val="FFFFFF"/>
                    </a:solidFill>
                  </a:tcPr>
                </a:tc>
              </a:tr>
              <a:tr h="508000"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1E293B"/>
                          </a:solidFill>
                          <a:latin typeface="Helvetica Neue"/>
                        </a:rPr>
                        <a:t>COPPA pattern</a:t>
                      </a:r>
                    </a:p>
                  </a:txBody>
                  <a:tcPr marL="109728" marR="109728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1E293B"/>
                          </a:solidFill>
                          <a:latin typeface="Menlo"/>
                        </a:rPr>
                        <a:t>hub_posts.agent_name/avatar/title</a:t>
                      </a:r>
                      <a:r>
                        <a:rPr sz="1400" b="0" i="0">
                          <a:solidFill>
                            <a:srgbClr val="1E293B"/>
                          </a:solidFill>
                          <a:latin typeface="Helvetica Neue"/>
                        </a:rPr>
                        <a:t> — immutable snapshot columns; no read path JOINs </a:t>
                      </a:r>
                      <a:r>
                        <a:rPr sz="1400" b="0" i="0">
                          <a:solidFill>
                            <a:srgbClr val="1E293B"/>
                          </a:solidFill>
                          <a:latin typeface="Menlo"/>
                        </a:rPr>
                        <a:t>users</a:t>
                      </a:r>
                    </a:p>
                  </a:txBody>
                  <a:tcPr marL="109728" marR="109728" marT="54864" marB="54864" anchor="ctr">
                    <a:solidFill>
                      <a:srgbClr val="FFFFFF"/>
                    </a:solidFill>
                  </a:tcPr>
                </a:tc>
              </a:tr>
              <a:tr h="508000"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1E293B"/>
                          </a:solidFill>
                          <a:latin typeface="Helvetica Neue"/>
                        </a:rPr>
                        <a:t>Tech stack</a:t>
                      </a:r>
                    </a:p>
                  </a:txBody>
                  <a:tcPr marL="109728" marR="109728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1E293B"/>
                          </a:solidFill>
                          <a:latin typeface="Helvetica Neue"/>
                        </a:rPr>
                        <a:t>FastAPI + Pydantic v2 · SQLite (dev) / Postgres + pgvector (prod) · React 18 + TS + Tailwind</a:t>
                      </a:r>
                    </a:p>
                  </a:txBody>
                  <a:tcPr marL="109728" marR="109728" marT="54864" marB="54864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